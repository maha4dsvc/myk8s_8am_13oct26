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add Helm. Until now we wrote Pods, ReplicationControllers, Deployments and Services by hand with kubectl. Helm packages those YAML files into one chart we can install, upgrade and roll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problems from our own class repo. nodePort 30001 is typed in three Services, so only one can exist. The Service says version 2.6.1 but the pods carry 2.6.2, so it has no endpoints.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analogy students already know. apt installs a package on Linux; helm installs a chart on Kubernetes.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chart, many releases: we will install our myjavaapp chart as booking-dev and booking-prod. Each release keeps its own history of revisions.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uses. Point to number 4: plain kubectl has no easy undo for a whole app; Helm does. Number 5: most real clusters install tools like ingress controllers and monitoring with Helm.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each install you add the repo, for example: helm repo add ingress-nginx https://kubernetes.github.io/ingress-nginx, then helm repo update. Do not install all of these in class; they are examples of what Helm is used for in real jobs.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helm create makes this layout with sample files. Files starting with underscore are helpers and are never sent to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Helm uses Go templates. Everything inside double curly braces is replaced. .Values means values.yaml, .Chart means Chart.yaml, .Release means the release name and namespace.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is still normal Kubernetes YAML. Students only replace the hard-coded parts.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fixes the namespace and nodePort problems from slide 2. The namespace comes from -n at install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need kubectl working first (kubectl get nodes). Helm reads the same kubeconfig.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daily use of Helm: installing someone else's app. helm show values tells you every setting you can change with --set or -f.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steps. The lab on the next slides does steps 3 to 5 on our real chart.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plain kubectl there is no easy undo for a whole app. Helm stores each revision in the cluster. Keep passing -f values-dev.yaml on upgrade, or Helm falls back to values.yaml.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our kubectl notes: create, get, describe, delete become install, list, status, uninstall, but for the whole app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lab with every command is in helm/HELM_LAB.md. Students need a running cluster (minikube, kind or EKS) and kubectl working.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Homework: add values-test.yaml with 2 replicas and nodePort 30003, install it as booking-test in namespace test while booking-dev is running, and explain why they do not clash.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A"/>
        </a:solidFill>
        <a:effectLst/>
      </p:bgPr>
    </p:bg>
    <p:spTree>
      <p:nvGrpSpPr>
        <p:cNvPr id="1" name=""/>
        <p:cNvGrpSpPr/>
        <p:nvPr/>
      </p:nvGrpSpPr>
      <p:grpSpPr/>
      <p:sp>
        <p:nvSpPr>
          <p:cNvPr id="2" name="TextBox 1"/>
          <p:cNvSpPr txBox="1"/>
          <p:nvPr/>
        </p:nvSpPr>
        <p:spPr>
          <a:xfrm>
            <a:off x="548640" y="1737360"/>
            <a:ext cx="11094415" cy="365760"/>
          </a:xfrm>
          <a:prstGeom prst="rect">
            <a:avLst/>
          </a:prstGeom>
          <a:noFill/>
        </p:spPr>
        <p:txBody>
          <a:bodyPr wrap="square" lIns="0" rIns="0" tIns="0" bIns="0" anchor="t">
            <a:spAutoFit/>
          </a:bodyPr>
          <a:lstStyle/>
          <a:p>
            <a:pPr algn="l"/>
            <a:r>
              <a:rPr sz="1600" b="1" i="0">
                <a:solidFill>
                  <a:srgbClr val="F0A35E"/>
                </a:solidFill>
                <a:latin typeface="Calibri"/>
              </a:rPr>
              <a:t>DEVOPS CLASS · KUBERNETES MODULE</a:t>
            </a:r>
          </a:p>
        </p:txBody>
      </p:sp>
      <p:sp>
        <p:nvSpPr>
          <p:cNvPr id="3" name="TextBox 2"/>
          <p:cNvSpPr txBox="1"/>
          <p:nvPr/>
        </p:nvSpPr>
        <p:spPr>
          <a:xfrm>
            <a:off x="548640" y="2194560"/>
            <a:ext cx="11094415" cy="1280160"/>
          </a:xfrm>
          <a:prstGeom prst="rect">
            <a:avLst/>
          </a:prstGeom>
          <a:noFill/>
        </p:spPr>
        <p:txBody>
          <a:bodyPr wrap="square" lIns="0" rIns="0" tIns="0" bIns="0" anchor="t">
            <a:spAutoFit/>
          </a:bodyPr>
          <a:lstStyle/>
          <a:p>
            <a:pPr algn="l"/>
            <a:r>
              <a:rPr sz="8800" b="1" i="0">
                <a:solidFill>
                  <a:srgbClr val="FFFFFF"/>
                </a:solidFill>
                <a:latin typeface="Calibri"/>
              </a:rPr>
              <a:t>Helm</a:t>
            </a:r>
          </a:p>
        </p:txBody>
      </p:sp>
      <p:sp>
        <p:nvSpPr>
          <p:cNvPr id="4" name="TextBox 3"/>
          <p:cNvSpPr txBox="1"/>
          <p:nvPr/>
        </p:nvSpPr>
        <p:spPr>
          <a:xfrm>
            <a:off x="548640" y="3520440"/>
            <a:ext cx="8686800" cy="1097280"/>
          </a:xfrm>
          <a:prstGeom prst="rect">
            <a:avLst/>
          </a:prstGeom>
          <a:noFill/>
        </p:spPr>
        <p:txBody>
          <a:bodyPr wrap="square" lIns="0" rIns="0" tIns="0" bIns="0" anchor="t">
            <a:spAutoFit/>
          </a:bodyPr>
          <a:lstStyle/>
          <a:p>
            <a:pPr algn="l"/>
            <a:r>
              <a:rPr sz="2600" b="0" i="0">
                <a:solidFill>
                  <a:srgbClr val="C3CFDD"/>
                </a:solidFill>
                <a:latin typeface="Calibri"/>
              </a:rPr>
              <a:t>The package manager for Kubernetes: what it is, why we use it, and how to use it</a:t>
            </a:r>
          </a:p>
        </p:txBody>
      </p:sp>
      <p:sp>
        <p:nvSpPr>
          <p:cNvPr id="5" name="TextBox 4"/>
          <p:cNvSpPr txBox="1"/>
          <p:nvPr/>
        </p:nvSpPr>
        <p:spPr>
          <a:xfrm>
            <a:off x="548640" y="6035040"/>
            <a:ext cx="11094415" cy="320040"/>
          </a:xfrm>
          <a:prstGeom prst="rect">
            <a:avLst/>
          </a:prstGeom>
          <a:noFill/>
        </p:spPr>
        <p:txBody>
          <a:bodyPr wrap="square" lIns="0" rIns="0" tIns="0" bIns="0" anchor="t">
            <a:spAutoFit/>
          </a:bodyPr>
          <a:lstStyle/>
          <a:p>
            <a:pPr algn="l"/>
            <a:r>
              <a:rPr sz="1300" b="0" i="0">
                <a:solidFill>
                  <a:srgbClr val="8FA3BA"/>
                </a:solidFill>
                <a:latin typeface="Consolas"/>
              </a:rPr>
              <a:t>myK8s_8am_13oct26 · helm/myjavaapp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THE PROBLEM</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Without Helm: the same values typed in many YAML files</a:t>
            </a:r>
          </a:p>
        </p:txBody>
      </p:sp>
      <p:graphicFrame>
        <p:nvGraphicFramePr>
          <p:cNvPr id="4" name="Table 3"/>
          <p:cNvGraphicFramePr>
            <a:graphicFrameLocks noGrp="1"/>
          </p:cNvGraphicFramePr>
          <p:nvPr/>
        </p:nvGraphicFramePr>
        <p:xfrm>
          <a:off x="548640" y="1828800"/>
          <a:ext cx="11094415" cy="2743200"/>
        </p:xfrm>
        <a:graphic>
          <a:graphicData uri="http://schemas.openxmlformats.org/drawingml/2006/table">
            <a:tbl>
              <a:tblPr firstRow="1" bandRow="1">
                <a:tableStyleId>{5C22544A-7EE6-4342-B048-85BDC9FD1C3A}</a:tableStyleId>
              </a:tblPr>
              <a:tblGrid>
                <a:gridCol w="2743200"/>
                <a:gridCol w="4480560"/>
                <a:gridCol w="3870655"/>
              </a:tblGrid>
              <a:tr h="548640">
                <a:tc>
                  <a:txBody>
                    <a:bodyPr wrap="square"/>
                    <a:lstStyle/>
                    <a:p>
                      <a:r>
                        <a:rPr sz="1600" b="1">
                          <a:solidFill>
                            <a:srgbClr val="FFFFFF"/>
                          </a:solidFill>
                          <a:latin typeface="Calibri"/>
                        </a:rPr>
                        <a:t>Value</a:t>
                      </a:r>
                    </a:p>
                  </a:txBody>
                  <a:tcPr marL="109728" marR="109728" anchor="ctr">
                    <a:solidFill>
                      <a:srgbClr val="13233A"/>
                    </a:solidFill>
                  </a:tcPr>
                </a:tc>
                <a:tc>
                  <a:txBody>
                    <a:bodyPr wrap="square"/>
                    <a:lstStyle/>
                    <a:p>
                      <a:r>
                        <a:rPr sz="1600" b="1">
                          <a:solidFill>
                            <a:srgbClr val="FFFFFF"/>
                          </a:solidFill>
                          <a:latin typeface="Calibri"/>
                        </a:rPr>
                        <a:t>Typed in</a:t>
                      </a:r>
                    </a:p>
                  </a:txBody>
                  <a:tcPr marL="109728" marR="109728" anchor="ctr">
                    <a:solidFill>
                      <a:srgbClr val="13233A"/>
                    </a:solidFill>
                  </a:tcPr>
                </a:tc>
                <a:tc>
                  <a:txBody>
                    <a:bodyPr wrap="square"/>
                    <a:lstStyle/>
                    <a:p>
                      <a:r>
                        <a:rPr sz="1600" b="1">
                          <a:solidFill>
                            <a:srgbClr val="FFFFFF"/>
                          </a:solidFill>
                          <a:latin typeface="Calibri"/>
                        </a:rPr>
                        <a:t>What went wrong</a:t>
                      </a:r>
                    </a:p>
                  </a:txBody>
                  <a:tcPr marL="109728" marR="109728" anchor="ctr">
                    <a:solidFill>
                      <a:srgbClr val="13233A"/>
                    </a:solidFill>
                  </a:tcPr>
                </a:tc>
              </a:tr>
              <a:tr h="548640">
                <a:tc>
                  <a:txBody>
                    <a:bodyPr wrap="square"/>
                    <a:lstStyle/>
                    <a:p>
                      <a:r>
                        <a:rPr sz="1600" b="0">
                          <a:solidFill>
                            <a:srgbClr val="1B2433"/>
                          </a:solidFill>
                          <a:latin typeface="Calibri"/>
                        </a:rPr>
                        <a:t>nodePort: 30001</a:t>
                      </a:r>
                    </a:p>
                  </a:txBody>
                  <a:tcPr marL="109728" marR="109728" anchor="ctr">
                    <a:solidFill>
                      <a:srgbClr val="FFFFFF"/>
                    </a:solidFill>
                  </a:tcPr>
                </a:tc>
                <a:tc>
                  <a:txBody>
                    <a:bodyPr wrap="square"/>
                    <a:lstStyle/>
                    <a:p>
                      <a:r>
                        <a:rPr sz="1600" b="0">
                          <a:solidFill>
                            <a:srgbClr val="1B2433"/>
                          </a:solidFill>
                          <a:latin typeface="Calibri"/>
                        </a:rPr>
                        <a:t>mySVC, myappsvc, mySVCdeploy</a:t>
                      </a:r>
                    </a:p>
                  </a:txBody>
                  <a:tcPr marL="109728" marR="109728" anchor="ctr">
                    <a:solidFill>
                      <a:srgbClr val="FFFFFF"/>
                    </a:solidFill>
                  </a:tcPr>
                </a:tc>
                <a:tc>
                  <a:txBody>
                    <a:bodyPr wrap="square"/>
                    <a:lstStyle/>
                    <a:p>
                      <a:r>
                        <a:rPr sz="1600" b="0">
                          <a:solidFill>
                            <a:srgbClr val="1B2433"/>
                          </a:solidFill>
                          <a:latin typeface="Calibri"/>
                        </a:rPr>
                        <a:t>3 Services fight for one port</a:t>
                      </a:r>
                    </a:p>
                  </a:txBody>
                  <a:tcPr marL="109728" marR="109728" anchor="ctr">
                    <a:solidFill>
                      <a:srgbClr val="FFFFFF"/>
                    </a:solidFill>
                  </a:tcPr>
                </a:tc>
              </a:tr>
              <a:tr h="548640">
                <a:tc>
                  <a:txBody>
                    <a:bodyPr wrap="square"/>
                    <a:lstStyle/>
                    <a:p>
                      <a:r>
                        <a:rPr sz="1600" b="0">
                          <a:solidFill>
                            <a:srgbClr val="1B2433"/>
                          </a:solidFill>
                          <a:latin typeface="Calibri"/>
                        </a:rPr>
                        <a:t>version label</a:t>
                      </a:r>
                    </a:p>
                  </a:txBody>
                  <a:tcPr marL="109728" marR="109728" anchor="ctr">
                    <a:solidFill>
                      <a:srgbClr val="E6EBF2"/>
                    </a:solidFill>
                  </a:tcPr>
                </a:tc>
                <a:tc>
                  <a:txBody>
                    <a:bodyPr wrap="square"/>
                    <a:lstStyle/>
                    <a:p>
                      <a:r>
                        <a:rPr sz="1600" b="0">
                          <a:solidFill>
                            <a:srgbClr val="1B2433"/>
                          </a:solidFill>
                          <a:latin typeface="Calibri"/>
                        </a:rPr>
                        <a:t>myapprc (2.6.2), myappsvc (2.6.1)</a:t>
                      </a:r>
                    </a:p>
                  </a:txBody>
                  <a:tcPr marL="109728" marR="109728" anchor="ctr">
                    <a:solidFill>
                      <a:srgbClr val="E6EBF2"/>
                    </a:solidFill>
                  </a:tcPr>
                </a:tc>
                <a:tc>
                  <a:txBody>
                    <a:bodyPr wrap="square"/>
                    <a:lstStyle/>
                    <a:p>
                      <a:r>
                        <a:rPr sz="1600" b="0">
                          <a:solidFill>
                            <a:srgbClr val="1B2433"/>
                          </a:solidFill>
                          <a:latin typeface="Calibri"/>
                        </a:rPr>
                        <a:t>Service finds no pods</a:t>
                      </a:r>
                    </a:p>
                  </a:txBody>
                  <a:tcPr marL="109728" marR="109728" anchor="ctr">
                    <a:solidFill>
                      <a:srgbClr val="E6EBF2"/>
                    </a:solidFill>
                  </a:tcPr>
                </a:tc>
              </a:tr>
              <a:tr h="548640">
                <a:tc>
                  <a:txBody>
                    <a:bodyPr wrap="square"/>
                    <a:lstStyle/>
                    <a:p>
                      <a:r>
                        <a:rPr sz="1600" b="0">
                          <a:solidFill>
                            <a:srgbClr val="1B2433"/>
                          </a:solidFill>
                          <a:latin typeface="Calibri"/>
                        </a:rPr>
                        <a:t>image tag :2</a:t>
                      </a:r>
                    </a:p>
                  </a:txBody>
                  <a:tcPr marL="109728" marR="109728" anchor="ctr">
                    <a:solidFill>
                      <a:srgbClr val="FFFFFF"/>
                    </a:solidFill>
                  </a:tcPr>
                </a:tc>
                <a:tc>
                  <a:txBody>
                    <a:bodyPr wrap="square"/>
                    <a:lstStyle/>
                    <a:p>
                      <a:r>
                        <a:rPr sz="1600" b="0">
                          <a:solidFill>
                            <a:srgbClr val="1B2433"/>
                          </a:solidFill>
                          <a:latin typeface="Calibri"/>
                        </a:rPr>
                        <a:t>myapprc, mydeploy</a:t>
                      </a:r>
                    </a:p>
                  </a:txBody>
                  <a:tcPr marL="109728" marR="109728" anchor="ctr">
                    <a:solidFill>
                      <a:srgbClr val="FFFFFF"/>
                    </a:solidFill>
                  </a:tcPr>
                </a:tc>
                <a:tc>
                  <a:txBody>
                    <a:bodyPr wrap="square"/>
                    <a:lstStyle/>
                    <a:p>
                      <a:r>
                        <a:rPr sz="1600" b="0">
                          <a:solidFill>
                            <a:srgbClr val="1B2433"/>
                          </a:solidFill>
                          <a:latin typeface="Calibri"/>
                        </a:rPr>
                        <a:t>New version = edit every file</a:t>
                      </a:r>
                    </a:p>
                  </a:txBody>
                  <a:tcPr marL="109728" marR="109728" anchor="ctr">
                    <a:solidFill>
                      <a:srgbClr val="FFFFFF"/>
                    </a:solidFill>
                  </a:tcPr>
                </a:tc>
              </a:tr>
              <a:tr h="548640">
                <a:tc>
                  <a:txBody>
                    <a:bodyPr wrap="square"/>
                    <a:lstStyle/>
                    <a:p>
                      <a:r>
                        <a:rPr sz="1600" b="0">
                          <a:solidFill>
                            <a:srgbClr val="1B2433"/>
                          </a:solidFill>
                          <a:latin typeface="Calibri"/>
                        </a:rPr>
                        <a:t>namespace: production</a:t>
                      </a:r>
                    </a:p>
                  </a:txBody>
                  <a:tcPr marL="109728" marR="109728" anchor="ctr">
                    <a:solidFill>
                      <a:srgbClr val="E6EBF2"/>
                    </a:solidFill>
                  </a:tcPr>
                </a:tc>
                <a:tc>
                  <a:txBody>
                    <a:bodyPr wrap="square"/>
                    <a:lstStyle/>
                    <a:p>
                      <a:r>
                        <a:rPr sz="1600" b="0">
                          <a:solidFill>
                            <a:srgbClr val="1B2433"/>
                          </a:solidFill>
                          <a:latin typeface="Calibri"/>
                        </a:rPr>
                        <a:t>mydeploy, mySVCdeploy</a:t>
                      </a:r>
                    </a:p>
                  </a:txBody>
                  <a:tcPr marL="109728" marR="109728" anchor="ctr">
                    <a:solidFill>
                      <a:srgbClr val="E6EBF2"/>
                    </a:solidFill>
                  </a:tcPr>
                </a:tc>
                <a:tc>
                  <a:txBody>
                    <a:bodyPr wrap="square"/>
                    <a:lstStyle/>
                    <a:p>
                      <a:r>
                        <a:rPr sz="1600" b="0">
                          <a:solidFill>
                            <a:srgbClr val="1B2433"/>
                          </a:solidFill>
                          <a:latin typeface="Calibri"/>
                        </a:rPr>
                        <a:t>dev and prod need full copies</a:t>
                      </a:r>
                    </a:p>
                  </a:txBody>
                  <a:tcPr marL="109728" marR="109728" anchor="ctr">
                    <a:solidFill>
                      <a:srgbClr val="E6EBF2"/>
                    </a:solidFill>
                  </a:tcPr>
                </a:tc>
              </a:tr>
            </a:tbl>
          </a:graphicData>
        </a:graphic>
      </p:graphicFrame>
      <p:sp>
        <p:nvSpPr>
          <p:cNvPr id="5" name="Rounded Rectangle 4"/>
          <p:cNvSpPr/>
          <p:nvPr/>
        </p:nvSpPr>
        <p:spPr>
          <a:xfrm>
            <a:off x="548640" y="4937760"/>
            <a:ext cx="11094415" cy="100584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937760"/>
            <a:ext cx="10454335" cy="1005840"/>
          </a:xfrm>
          <a:prstGeom prst="rect">
            <a:avLst/>
          </a:prstGeom>
          <a:noFill/>
        </p:spPr>
        <p:txBody>
          <a:bodyPr wrap="square" lIns="0" rIns="0" tIns="0" bIns="0" anchor="ctr">
            <a:spAutoFit/>
          </a:bodyPr>
          <a:lstStyle/>
          <a:p>
            <a:pPr algn="l"/>
            <a:r>
              <a:rPr sz="2000" b="1" i="0">
                <a:solidFill>
                  <a:srgbClr val="2E6FD8"/>
                </a:solidFill>
                <a:latin typeface="Calibri"/>
              </a:rPr>
              <a:t>Helm’s fix: </a:t>
            </a:r>
            <a:r>
              <a:rPr sz="2000" b="0" i="0">
                <a:solidFill>
                  <a:srgbClr val="1B2433"/>
                </a:solidFill>
                <a:latin typeface="Calibri"/>
              </a:rPr>
              <a:t>write the YAML once as a template, and keep everything that changes in one values 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WHAT IS HELM?</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Helm is the package manager for Kubernetes</a:t>
            </a:r>
          </a:p>
        </p:txBody>
      </p:sp>
      <p:sp>
        <p:nvSpPr>
          <p:cNvPr id="4" name="TextBox 3"/>
          <p:cNvSpPr txBox="1"/>
          <p:nvPr/>
        </p:nvSpPr>
        <p:spPr>
          <a:xfrm>
            <a:off x="548640" y="1691640"/>
            <a:ext cx="4754880" cy="2926080"/>
          </a:xfrm>
          <a:prstGeom prst="rect">
            <a:avLst/>
          </a:prstGeom>
          <a:noFill/>
        </p:spPr>
        <p:txBody>
          <a:bodyPr wrap="square" lIns="0" rIns="0" tIns="0" bIns="0" anchor="t">
            <a:spAutoFit/>
          </a:bodyPr>
          <a:lstStyle/>
          <a:p>
            <a:pPr algn="l">
              <a:spcAft>
                <a:spcPts val="1400"/>
              </a:spcAft>
            </a:pPr>
            <a:r>
              <a:rPr sz="1800" b="0" i="0">
                <a:solidFill>
                  <a:srgbClr val="4A5568"/>
                </a:solidFill>
                <a:latin typeface="Calibri"/>
              </a:rPr>
              <a:t>Helm bundles all the YAML an app needs (Deployment, Service, ConfigMap, Secret, Ingress…) into one package called a chart.</a:t>
            </a:r>
          </a:p>
          <a:p>
            <a:pPr algn="l">
              <a:spcAft>
                <a:spcPts val="1400"/>
              </a:spcAft>
            </a:pPr>
            <a:r>
              <a:rPr sz="1800" b="0" i="0">
                <a:solidFill>
                  <a:srgbClr val="4A5568"/>
                </a:solidFill>
                <a:latin typeface="Calibri"/>
              </a:rPr>
              <a:t>You install the whole app with one command, and change it per environment with a small values file.</a:t>
            </a:r>
          </a:p>
          <a:p>
            <a:pPr algn="l">
              <a:spcAft>
                <a:spcPts val="1400"/>
              </a:spcAft>
            </a:pPr>
            <a:r>
              <a:rPr sz="1800" b="1" i="0">
                <a:solidFill>
                  <a:srgbClr val="4A5568"/>
                </a:solidFill>
                <a:latin typeface="Calibri"/>
              </a:rPr>
              <a:t>Helm 3 and 4 are client-only: </a:t>
            </a:r>
            <a:r>
              <a:rPr sz="1800" b="0" i="0">
                <a:solidFill>
                  <a:srgbClr val="4A5568"/>
                </a:solidFill>
                <a:latin typeface="Calibri"/>
              </a:rPr>
              <a:t>they use your kubeconfig, just like kubectl. Nothing extra runs in the cluster.</a:t>
            </a:r>
          </a:p>
        </p:txBody>
      </p:sp>
      <p:graphicFrame>
        <p:nvGraphicFramePr>
          <p:cNvPr id="5" name="Table 4"/>
          <p:cNvGraphicFramePr>
            <a:graphicFrameLocks noGrp="1"/>
          </p:cNvGraphicFramePr>
          <p:nvPr/>
        </p:nvGraphicFramePr>
        <p:xfrm>
          <a:off x="5760720" y="1737360"/>
          <a:ext cx="5882335" cy="2834640"/>
        </p:xfrm>
        <a:graphic>
          <a:graphicData uri="http://schemas.openxmlformats.org/drawingml/2006/table">
            <a:tbl>
              <a:tblPr firstRow="1" bandRow="1">
                <a:tableStyleId>{5C22544A-7EE6-4342-B048-85BDC9FD1C3A}</a:tableStyleId>
              </a:tblPr>
              <a:tblGrid>
                <a:gridCol w="3291840"/>
                <a:gridCol w="2590495"/>
              </a:tblGrid>
              <a:tr h="566928">
                <a:tc>
                  <a:txBody>
                    <a:bodyPr wrap="square"/>
                    <a:lstStyle/>
                    <a:p>
                      <a:r>
                        <a:rPr sz="1600" b="1">
                          <a:solidFill>
                            <a:srgbClr val="FFFFFF"/>
                          </a:solidFill>
                          <a:latin typeface="Calibri"/>
                        </a:rPr>
                        <a:t>You already know</a:t>
                      </a:r>
                    </a:p>
                  </a:txBody>
                  <a:tcPr marL="109728" marR="109728" anchor="ctr">
                    <a:solidFill>
                      <a:srgbClr val="13233A"/>
                    </a:solidFill>
                  </a:tcPr>
                </a:tc>
                <a:tc>
                  <a:txBody>
                    <a:bodyPr wrap="square"/>
                    <a:lstStyle/>
                    <a:p>
                      <a:r>
                        <a:rPr sz="1600" b="1">
                          <a:solidFill>
                            <a:srgbClr val="FFFFFF"/>
                          </a:solidFill>
                          <a:latin typeface="Calibri"/>
                        </a:rPr>
                        <a:t>In Helm</a:t>
                      </a:r>
                    </a:p>
                  </a:txBody>
                  <a:tcPr marL="109728" marR="109728" anchor="ctr">
                    <a:solidFill>
                      <a:srgbClr val="13233A"/>
                    </a:solidFill>
                  </a:tcPr>
                </a:tc>
              </a:tr>
              <a:tr h="566928">
                <a:tc>
                  <a:txBody>
                    <a:bodyPr wrap="square"/>
                    <a:lstStyle/>
                    <a:p>
                      <a:r>
                        <a:rPr sz="1600" b="0">
                          <a:solidFill>
                            <a:srgbClr val="1B2433"/>
                          </a:solidFill>
                          <a:latin typeface="Calibri"/>
                        </a:rPr>
                        <a:t>apt / yum / npm (the tool)</a:t>
                      </a:r>
                    </a:p>
                  </a:txBody>
                  <a:tcPr marL="109728" marR="109728" anchor="ctr">
                    <a:solidFill>
                      <a:srgbClr val="FFFFFF"/>
                    </a:solidFill>
                  </a:tcPr>
                </a:tc>
                <a:tc>
                  <a:txBody>
                    <a:bodyPr wrap="square"/>
                    <a:lstStyle/>
                    <a:p>
                      <a:r>
                        <a:rPr sz="1600" b="0">
                          <a:solidFill>
                            <a:srgbClr val="1B2433"/>
                          </a:solidFill>
                          <a:latin typeface="Calibri"/>
                        </a:rPr>
                        <a:t>helm</a:t>
                      </a:r>
                    </a:p>
                  </a:txBody>
                  <a:tcPr marL="109728" marR="109728" anchor="ctr">
                    <a:solidFill>
                      <a:srgbClr val="FFFFFF"/>
                    </a:solidFill>
                  </a:tcPr>
                </a:tc>
              </a:tr>
              <a:tr h="566928">
                <a:tc>
                  <a:txBody>
                    <a:bodyPr wrap="square"/>
                    <a:lstStyle/>
                    <a:p>
                      <a:r>
                        <a:rPr sz="1600" b="0">
                          <a:solidFill>
                            <a:srgbClr val="1B2433"/>
                          </a:solidFill>
                          <a:latin typeface="Calibri"/>
                        </a:rPr>
                        <a:t>A package (.deb, npm package)</a:t>
                      </a:r>
                    </a:p>
                  </a:txBody>
                  <a:tcPr marL="109728" marR="109728" anchor="ctr">
                    <a:solidFill>
                      <a:srgbClr val="E6EBF2"/>
                    </a:solidFill>
                  </a:tcPr>
                </a:tc>
                <a:tc>
                  <a:txBody>
                    <a:bodyPr wrap="square"/>
                    <a:lstStyle/>
                    <a:p>
                      <a:r>
                        <a:rPr sz="1600" b="0">
                          <a:solidFill>
                            <a:srgbClr val="1B2433"/>
                          </a:solidFill>
                          <a:latin typeface="Calibri"/>
                        </a:rPr>
                        <a:t>Chart</a:t>
                      </a:r>
                    </a:p>
                  </a:txBody>
                  <a:tcPr marL="109728" marR="109728" anchor="ctr">
                    <a:solidFill>
                      <a:srgbClr val="E6EBF2"/>
                    </a:solidFill>
                  </a:tcPr>
                </a:tc>
              </a:tr>
              <a:tr h="566928">
                <a:tc>
                  <a:txBody>
                    <a:bodyPr wrap="square"/>
                    <a:lstStyle/>
                    <a:p>
                      <a:r>
                        <a:rPr sz="1600" b="0">
                          <a:solidFill>
                            <a:srgbClr val="1B2433"/>
                          </a:solidFill>
                          <a:latin typeface="Calibri"/>
                        </a:rPr>
                        <a:t>One installed copy</a:t>
                      </a:r>
                    </a:p>
                  </a:txBody>
                  <a:tcPr marL="109728" marR="109728" anchor="ctr">
                    <a:solidFill>
                      <a:srgbClr val="FFFFFF"/>
                    </a:solidFill>
                  </a:tcPr>
                </a:tc>
                <a:tc>
                  <a:txBody>
                    <a:bodyPr wrap="square"/>
                    <a:lstStyle/>
                    <a:p>
                      <a:r>
                        <a:rPr sz="1600" b="0">
                          <a:solidFill>
                            <a:srgbClr val="1B2433"/>
                          </a:solidFill>
                          <a:latin typeface="Calibri"/>
                        </a:rPr>
                        <a:t>Release</a:t>
                      </a:r>
                    </a:p>
                  </a:txBody>
                  <a:tcPr marL="109728" marR="109728" anchor="ctr">
                    <a:solidFill>
                      <a:srgbClr val="FFFFFF"/>
                    </a:solidFill>
                  </a:tcPr>
                </a:tc>
              </a:tr>
              <a:tr h="566928">
                <a:tc>
                  <a:txBody>
                    <a:bodyPr wrap="square"/>
                    <a:lstStyle/>
                    <a:p>
                      <a:r>
                        <a:rPr sz="1600" b="0">
                          <a:solidFill>
                            <a:srgbClr val="1B2433"/>
                          </a:solidFill>
                          <a:latin typeface="Calibri"/>
                        </a:rPr>
                        <a:t>A package store (npmjs.com)</a:t>
                      </a:r>
                    </a:p>
                  </a:txBody>
                  <a:tcPr marL="109728" marR="109728" anchor="ctr">
                    <a:solidFill>
                      <a:srgbClr val="E6EBF2"/>
                    </a:solidFill>
                  </a:tcPr>
                </a:tc>
                <a:tc>
                  <a:txBody>
                    <a:bodyPr wrap="square"/>
                    <a:lstStyle/>
                    <a:p>
                      <a:r>
                        <a:rPr sz="1600" b="0">
                          <a:solidFill>
                            <a:srgbClr val="1B2433"/>
                          </a:solidFill>
                          <a:latin typeface="Calibri"/>
                        </a:rPr>
                        <a:t>Chart repository</a:t>
                      </a:r>
                    </a:p>
                  </a:txBody>
                  <a:tcPr marL="109728" marR="109728" anchor="ctr">
                    <a:solidFill>
                      <a:srgbClr val="E6EBF2"/>
                    </a:solidFill>
                  </a:tcPr>
                </a:tc>
              </a:tr>
            </a:tbl>
          </a:graphicData>
        </a:graphic>
      </p:graphicFrame>
      <p:sp>
        <p:nvSpPr>
          <p:cNvPr id="6" name="Rounded Rectangle 5"/>
          <p:cNvSpPr/>
          <p:nvPr/>
        </p:nvSpPr>
        <p:spPr>
          <a:xfrm>
            <a:off x="5760720" y="4937760"/>
            <a:ext cx="5882335" cy="100584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4937760"/>
            <a:ext cx="5394960" cy="1005840"/>
          </a:xfrm>
          <a:prstGeom prst="rect">
            <a:avLst/>
          </a:prstGeom>
          <a:noFill/>
        </p:spPr>
        <p:txBody>
          <a:bodyPr wrap="square" lIns="0" rIns="0" tIns="0" bIns="0" anchor="ctr">
            <a:spAutoFit/>
          </a:bodyPr>
          <a:lstStyle/>
          <a:p>
            <a:pPr algn="l"/>
            <a:r>
              <a:rPr sz="1400" b="0" i="0">
                <a:solidFill>
                  <a:srgbClr val="E6EDF5"/>
                </a:solidFill>
                <a:latin typeface="Consolas"/>
              </a:rPr>
              <a:t>apt install nginx  →  helm install web bitnami/nginx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EBF2"/>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KEY CONCEPTS</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Three words to remember: chart, release, repository</a:t>
            </a:r>
          </a:p>
        </p:txBody>
      </p:sp>
      <p:sp>
        <p:nvSpPr>
          <p:cNvPr id="4" name="Rounded Rectangle 3"/>
          <p:cNvSpPr/>
          <p:nvPr/>
        </p:nvSpPr>
        <p:spPr>
          <a:xfrm>
            <a:off x="548640" y="1828800"/>
            <a:ext cx="3454298" cy="39319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48840"/>
            <a:ext cx="685800" cy="6858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C</a:t>
            </a:r>
          </a:p>
        </p:txBody>
      </p:sp>
      <p:sp>
        <p:nvSpPr>
          <p:cNvPr id="6" name="TextBox 5"/>
          <p:cNvSpPr txBox="1"/>
          <p:nvPr/>
        </p:nvSpPr>
        <p:spPr>
          <a:xfrm>
            <a:off x="914400" y="3017520"/>
            <a:ext cx="2722778" cy="548640"/>
          </a:xfrm>
          <a:prstGeom prst="rect">
            <a:avLst/>
          </a:prstGeom>
          <a:noFill/>
        </p:spPr>
        <p:txBody>
          <a:bodyPr wrap="square" lIns="0" rIns="0" tIns="0" bIns="0" anchor="t">
            <a:spAutoFit/>
          </a:bodyPr>
          <a:lstStyle/>
          <a:p>
            <a:pPr algn="l"/>
            <a:r>
              <a:rPr sz="2600" b="1" i="0">
                <a:solidFill>
                  <a:srgbClr val="1B2433"/>
                </a:solidFill>
                <a:latin typeface="Calibri"/>
              </a:rPr>
              <a:t>Chart</a:t>
            </a:r>
          </a:p>
        </p:txBody>
      </p:sp>
      <p:sp>
        <p:nvSpPr>
          <p:cNvPr id="7" name="TextBox 6"/>
          <p:cNvSpPr txBox="1"/>
          <p:nvPr/>
        </p:nvSpPr>
        <p:spPr>
          <a:xfrm>
            <a:off x="914400" y="3611880"/>
            <a:ext cx="2722778" cy="1280160"/>
          </a:xfrm>
          <a:prstGeom prst="rect">
            <a:avLst/>
          </a:prstGeom>
          <a:noFill/>
        </p:spPr>
        <p:txBody>
          <a:bodyPr wrap="square" lIns="0" rIns="0" tIns="0" bIns="0" anchor="t">
            <a:spAutoFit/>
          </a:bodyPr>
          <a:lstStyle/>
          <a:p>
            <a:pPr algn="l"/>
            <a:r>
              <a:rPr sz="1700" b="0" i="0">
                <a:solidFill>
                  <a:srgbClr val="4A5568"/>
                </a:solidFill>
                <a:latin typeface="Calibri"/>
              </a:rPr>
              <a:t>A folder of templates plus default values. It is the package.</a:t>
            </a:r>
          </a:p>
        </p:txBody>
      </p:sp>
      <p:sp>
        <p:nvSpPr>
          <p:cNvPr id="8" name="TextBox 7"/>
          <p:cNvSpPr txBox="1"/>
          <p:nvPr/>
        </p:nvSpPr>
        <p:spPr>
          <a:xfrm>
            <a:off x="914400" y="5074920"/>
            <a:ext cx="2722778" cy="457200"/>
          </a:xfrm>
          <a:prstGeom prst="rect">
            <a:avLst/>
          </a:prstGeom>
          <a:noFill/>
        </p:spPr>
        <p:txBody>
          <a:bodyPr wrap="square" lIns="0" rIns="0" tIns="0" bIns="0" anchor="t">
            <a:spAutoFit/>
          </a:bodyPr>
          <a:lstStyle/>
          <a:p>
            <a:pPr algn="l"/>
            <a:r>
              <a:rPr sz="1400" b="0" i="0">
                <a:solidFill>
                  <a:srgbClr val="2E6FD8"/>
                </a:solidFill>
                <a:latin typeface="Consolas"/>
              </a:rPr>
              <a:t>./myjavaapp</a:t>
            </a:r>
          </a:p>
        </p:txBody>
      </p:sp>
      <p:sp>
        <p:nvSpPr>
          <p:cNvPr id="9" name="Rounded Rectangle 8"/>
          <p:cNvSpPr/>
          <p:nvPr/>
        </p:nvSpPr>
        <p:spPr>
          <a:xfrm>
            <a:off x="4368698" y="1828800"/>
            <a:ext cx="3454298" cy="39319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34458" y="2148840"/>
            <a:ext cx="685800" cy="6858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R</a:t>
            </a:r>
          </a:p>
        </p:txBody>
      </p:sp>
      <p:sp>
        <p:nvSpPr>
          <p:cNvPr id="11" name="TextBox 10"/>
          <p:cNvSpPr txBox="1"/>
          <p:nvPr/>
        </p:nvSpPr>
        <p:spPr>
          <a:xfrm>
            <a:off x="4734458" y="3017520"/>
            <a:ext cx="2722778" cy="548640"/>
          </a:xfrm>
          <a:prstGeom prst="rect">
            <a:avLst/>
          </a:prstGeom>
          <a:noFill/>
        </p:spPr>
        <p:txBody>
          <a:bodyPr wrap="square" lIns="0" rIns="0" tIns="0" bIns="0" anchor="t">
            <a:spAutoFit/>
          </a:bodyPr>
          <a:lstStyle/>
          <a:p>
            <a:pPr algn="l"/>
            <a:r>
              <a:rPr sz="2600" b="1" i="0">
                <a:solidFill>
                  <a:srgbClr val="1B2433"/>
                </a:solidFill>
                <a:latin typeface="Calibri"/>
              </a:rPr>
              <a:t>Release</a:t>
            </a:r>
          </a:p>
        </p:txBody>
      </p:sp>
      <p:sp>
        <p:nvSpPr>
          <p:cNvPr id="12" name="TextBox 11"/>
          <p:cNvSpPr txBox="1"/>
          <p:nvPr/>
        </p:nvSpPr>
        <p:spPr>
          <a:xfrm>
            <a:off x="4734458" y="3611880"/>
            <a:ext cx="2722778" cy="1280160"/>
          </a:xfrm>
          <a:prstGeom prst="rect">
            <a:avLst/>
          </a:prstGeom>
          <a:noFill/>
        </p:spPr>
        <p:txBody>
          <a:bodyPr wrap="square" lIns="0" rIns="0" tIns="0" bIns="0" anchor="t">
            <a:spAutoFit/>
          </a:bodyPr>
          <a:lstStyle/>
          <a:p>
            <a:pPr algn="l"/>
            <a:r>
              <a:rPr sz="1700" b="0" i="0">
                <a:solidFill>
                  <a:srgbClr val="4A5568"/>
                </a:solidFill>
                <a:latin typeface="Calibri"/>
              </a:rPr>
              <a:t>One running install of a chart, with a name and a revision number.</a:t>
            </a:r>
          </a:p>
        </p:txBody>
      </p:sp>
      <p:sp>
        <p:nvSpPr>
          <p:cNvPr id="13" name="TextBox 12"/>
          <p:cNvSpPr txBox="1"/>
          <p:nvPr/>
        </p:nvSpPr>
        <p:spPr>
          <a:xfrm>
            <a:off x="4734458" y="5074920"/>
            <a:ext cx="2722778" cy="457200"/>
          </a:xfrm>
          <a:prstGeom prst="rect">
            <a:avLst/>
          </a:prstGeom>
          <a:noFill/>
        </p:spPr>
        <p:txBody>
          <a:bodyPr wrap="square" lIns="0" rIns="0" tIns="0" bIns="0" anchor="t">
            <a:spAutoFit/>
          </a:bodyPr>
          <a:lstStyle/>
          <a:p>
            <a:pPr algn="l"/>
            <a:r>
              <a:rPr sz="1400" b="0" i="0">
                <a:solidFill>
                  <a:srgbClr val="2E6FD8"/>
                </a:solidFill>
                <a:latin typeface="Consolas"/>
              </a:rPr>
              <a:t>booking-dev, booking-prod</a:t>
            </a:r>
          </a:p>
        </p:txBody>
      </p:sp>
      <p:sp>
        <p:nvSpPr>
          <p:cNvPr id="14" name="Rounded Rectangle 13"/>
          <p:cNvSpPr/>
          <p:nvPr/>
        </p:nvSpPr>
        <p:spPr>
          <a:xfrm>
            <a:off x="8188756" y="1828800"/>
            <a:ext cx="3454298" cy="39319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54516" y="2148840"/>
            <a:ext cx="685800" cy="6858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H</a:t>
            </a:r>
          </a:p>
        </p:txBody>
      </p:sp>
      <p:sp>
        <p:nvSpPr>
          <p:cNvPr id="16" name="TextBox 15"/>
          <p:cNvSpPr txBox="1"/>
          <p:nvPr/>
        </p:nvSpPr>
        <p:spPr>
          <a:xfrm>
            <a:off x="8554516" y="3017520"/>
            <a:ext cx="2722778" cy="548640"/>
          </a:xfrm>
          <a:prstGeom prst="rect">
            <a:avLst/>
          </a:prstGeom>
          <a:noFill/>
        </p:spPr>
        <p:txBody>
          <a:bodyPr wrap="square" lIns="0" rIns="0" tIns="0" bIns="0" anchor="t">
            <a:spAutoFit/>
          </a:bodyPr>
          <a:lstStyle/>
          <a:p>
            <a:pPr algn="l"/>
            <a:r>
              <a:rPr sz="2600" b="1" i="0">
                <a:solidFill>
                  <a:srgbClr val="1B2433"/>
                </a:solidFill>
                <a:latin typeface="Calibri"/>
              </a:rPr>
              <a:t>Repository</a:t>
            </a:r>
          </a:p>
        </p:txBody>
      </p:sp>
      <p:sp>
        <p:nvSpPr>
          <p:cNvPr id="17" name="TextBox 16"/>
          <p:cNvSpPr txBox="1"/>
          <p:nvPr/>
        </p:nvSpPr>
        <p:spPr>
          <a:xfrm>
            <a:off x="8554516" y="3611880"/>
            <a:ext cx="2722778" cy="1280160"/>
          </a:xfrm>
          <a:prstGeom prst="rect">
            <a:avLst/>
          </a:prstGeom>
          <a:noFill/>
        </p:spPr>
        <p:txBody>
          <a:bodyPr wrap="square" lIns="0" rIns="0" tIns="0" bIns="0" anchor="t">
            <a:spAutoFit/>
          </a:bodyPr>
          <a:lstStyle/>
          <a:p>
            <a:pPr algn="l"/>
            <a:r>
              <a:rPr sz="1700" b="0" i="0">
                <a:solidFill>
                  <a:srgbClr val="4A5568"/>
                </a:solidFill>
                <a:latin typeface="Calibri"/>
              </a:rPr>
              <a:t>A place to share and download charts, like Docker Hub for charts.</a:t>
            </a:r>
          </a:p>
        </p:txBody>
      </p:sp>
      <p:sp>
        <p:nvSpPr>
          <p:cNvPr id="18" name="TextBox 17"/>
          <p:cNvSpPr txBox="1"/>
          <p:nvPr/>
        </p:nvSpPr>
        <p:spPr>
          <a:xfrm>
            <a:off x="8554516" y="5074920"/>
            <a:ext cx="2722778" cy="457200"/>
          </a:xfrm>
          <a:prstGeom prst="rect">
            <a:avLst/>
          </a:prstGeom>
          <a:noFill/>
        </p:spPr>
        <p:txBody>
          <a:bodyPr wrap="square" lIns="0" rIns="0" tIns="0" bIns="0" anchor="t">
            <a:spAutoFit/>
          </a:bodyPr>
          <a:lstStyle/>
          <a:p>
            <a:pPr algn="l"/>
            <a:r>
              <a:rPr sz="1400" b="0" i="0">
                <a:solidFill>
                  <a:srgbClr val="2E6FD8"/>
                </a:solidFill>
                <a:latin typeface="Consolas"/>
              </a:rPr>
              <a:t>helm repo add bitnami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WHY USE HELM?</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Six reasons teams use Helm</a:t>
            </a:r>
          </a:p>
        </p:txBody>
      </p:sp>
      <p:sp>
        <p:nvSpPr>
          <p:cNvPr id="4" name="Rounded Rectangle 3"/>
          <p:cNvSpPr/>
          <p:nvPr/>
        </p:nvSpPr>
        <p:spPr>
          <a:xfrm>
            <a:off x="548640" y="1783080"/>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57400"/>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508760" y="2075688"/>
            <a:ext cx="2296058" cy="457200"/>
          </a:xfrm>
          <a:prstGeom prst="rect">
            <a:avLst/>
          </a:prstGeom>
          <a:noFill/>
        </p:spPr>
        <p:txBody>
          <a:bodyPr wrap="square" lIns="0" rIns="0" tIns="0" bIns="0" anchor="t">
            <a:spAutoFit/>
          </a:bodyPr>
          <a:lstStyle/>
          <a:p>
            <a:pPr algn="l"/>
            <a:r>
              <a:rPr sz="1900" b="1" i="0">
                <a:solidFill>
                  <a:srgbClr val="1B2433"/>
                </a:solidFill>
                <a:latin typeface="Calibri"/>
              </a:rPr>
              <a:t>Package once, reuse</a:t>
            </a:r>
          </a:p>
        </p:txBody>
      </p:sp>
      <p:sp>
        <p:nvSpPr>
          <p:cNvPr id="7" name="TextBox 6"/>
          <p:cNvSpPr txBox="1"/>
          <p:nvPr/>
        </p:nvSpPr>
        <p:spPr>
          <a:xfrm>
            <a:off x="822959" y="2697480"/>
            <a:ext cx="2936138" cy="914400"/>
          </a:xfrm>
          <a:prstGeom prst="rect">
            <a:avLst/>
          </a:prstGeom>
          <a:noFill/>
        </p:spPr>
        <p:txBody>
          <a:bodyPr wrap="square" lIns="0" rIns="0" tIns="0" bIns="0" anchor="t">
            <a:spAutoFit/>
          </a:bodyPr>
          <a:lstStyle/>
          <a:p>
            <a:pPr algn="l"/>
            <a:r>
              <a:rPr sz="1600" b="0" i="0">
                <a:solidFill>
                  <a:srgbClr val="4A5568"/>
                </a:solidFill>
                <a:latin typeface="Calibri"/>
              </a:rPr>
              <a:t>One chart deploys the same app to dev, test and prod.</a:t>
            </a:r>
          </a:p>
        </p:txBody>
      </p:sp>
      <p:sp>
        <p:nvSpPr>
          <p:cNvPr id="8" name="Rounded Rectangle 7"/>
          <p:cNvSpPr/>
          <p:nvPr/>
        </p:nvSpPr>
        <p:spPr>
          <a:xfrm>
            <a:off x="4353458" y="1783080"/>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27778" y="2057400"/>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5313578" y="2075688"/>
            <a:ext cx="2296058" cy="457200"/>
          </a:xfrm>
          <a:prstGeom prst="rect">
            <a:avLst/>
          </a:prstGeom>
          <a:noFill/>
        </p:spPr>
        <p:txBody>
          <a:bodyPr wrap="square" lIns="0" rIns="0" tIns="0" bIns="0" anchor="t">
            <a:spAutoFit/>
          </a:bodyPr>
          <a:lstStyle/>
          <a:p>
            <a:pPr algn="l"/>
            <a:r>
              <a:rPr sz="1900" b="1" i="0">
                <a:solidFill>
                  <a:srgbClr val="1B2433"/>
                </a:solidFill>
                <a:latin typeface="Calibri"/>
              </a:rPr>
              <a:t>Config per environment</a:t>
            </a:r>
          </a:p>
        </p:txBody>
      </p:sp>
      <p:sp>
        <p:nvSpPr>
          <p:cNvPr id="11" name="TextBox 10"/>
          <p:cNvSpPr txBox="1"/>
          <p:nvPr/>
        </p:nvSpPr>
        <p:spPr>
          <a:xfrm>
            <a:off x="4627778" y="2697480"/>
            <a:ext cx="2936138" cy="914400"/>
          </a:xfrm>
          <a:prstGeom prst="rect">
            <a:avLst/>
          </a:prstGeom>
          <a:noFill/>
        </p:spPr>
        <p:txBody>
          <a:bodyPr wrap="square" lIns="0" rIns="0" tIns="0" bIns="0" anchor="t">
            <a:spAutoFit/>
          </a:bodyPr>
          <a:lstStyle/>
          <a:p>
            <a:pPr algn="l"/>
            <a:r>
              <a:rPr sz="1600" b="0" i="0">
                <a:solidFill>
                  <a:srgbClr val="4A5568"/>
                </a:solidFill>
                <a:latin typeface="Calibri"/>
              </a:rPr>
              <a:t>Only a small values file changes: replicas, image, ports.</a:t>
            </a:r>
          </a:p>
        </p:txBody>
      </p:sp>
      <p:sp>
        <p:nvSpPr>
          <p:cNvPr id="12" name="Rounded Rectangle 11"/>
          <p:cNvSpPr/>
          <p:nvPr/>
        </p:nvSpPr>
        <p:spPr>
          <a:xfrm>
            <a:off x="8158276" y="1783080"/>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32596" y="2057400"/>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9118396" y="2075688"/>
            <a:ext cx="2296058" cy="457200"/>
          </a:xfrm>
          <a:prstGeom prst="rect">
            <a:avLst/>
          </a:prstGeom>
          <a:noFill/>
        </p:spPr>
        <p:txBody>
          <a:bodyPr wrap="square" lIns="0" rIns="0" tIns="0" bIns="0" anchor="t">
            <a:spAutoFit/>
          </a:bodyPr>
          <a:lstStyle/>
          <a:p>
            <a:pPr algn="l"/>
            <a:r>
              <a:rPr sz="1900" b="1" i="0">
                <a:solidFill>
                  <a:srgbClr val="1B2433"/>
                </a:solidFill>
                <a:latin typeface="Calibri"/>
              </a:rPr>
              <a:t>One-command deploy</a:t>
            </a:r>
          </a:p>
        </p:txBody>
      </p:sp>
      <p:sp>
        <p:nvSpPr>
          <p:cNvPr id="15" name="TextBox 14"/>
          <p:cNvSpPr txBox="1"/>
          <p:nvPr/>
        </p:nvSpPr>
        <p:spPr>
          <a:xfrm>
            <a:off x="8432596" y="2697480"/>
            <a:ext cx="2936138" cy="914400"/>
          </a:xfrm>
          <a:prstGeom prst="rect">
            <a:avLst/>
          </a:prstGeom>
          <a:noFill/>
        </p:spPr>
        <p:txBody>
          <a:bodyPr wrap="square" lIns="0" rIns="0" tIns="0" bIns="0" anchor="t">
            <a:spAutoFit/>
          </a:bodyPr>
          <a:lstStyle/>
          <a:p>
            <a:pPr algn="l"/>
            <a:r>
              <a:rPr sz="1600" b="0" i="0">
                <a:solidFill>
                  <a:srgbClr val="4A5568"/>
                </a:solidFill>
                <a:latin typeface="Calibri"/>
              </a:rPr>
              <a:t>helm install creates every object together, in order.</a:t>
            </a:r>
          </a:p>
        </p:txBody>
      </p:sp>
      <p:sp>
        <p:nvSpPr>
          <p:cNvPr id="16" name="Rounded Rectangle 15"/>
          <p:cNvSpPr/>
          <p:nvPr/>
        </p:nvSpPr>
        <p:spPr>
          <a:xfrm>
            <a:off x="548640" y="4023359"/>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59" y="4297679"/>
            <a:ext cx="502920" cy="50292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1508760" y="4315968"/>
            <a:ext cx="2296058" cy="457200"/>
          </a:xfrm>
          <a:prstGeom prst="rect">
            <a:avLst/>
          </a:prstGeom>
          <a:noFill/>
        </p:spPr>
        <p:txBody>
          <a:bodyPr wrap="square" lIns="0" rIns="0" tIns="0" bIns="0" anchor="t">
            <a:spAutoFit/>
          </a:bodyPr>
          <a:lstStyle/>
          <a:p>
            <a:pPr algn="l"/>
            <a:r>
              <a:rPr sz="1900" b="1" i="0">
                <a:solidFill>
                  <a:srgbClr val="1B2433"/>
                </a:solidFill>
                <a:latin typeface="Calibri"/>
              </a:rPr>
              <a:t>Upgrade and rollback</a:t>
            </a:r>
          </a:p>
        </p:txBody>
      </p:sp>
      <p:sp>
        <p:nvSpPr>
          <p:cNvPr id="19" name="TextBox 18"/>
          <p:cNvSpPr txBox="1"/>
          <p:nvPr/>
        </p:nvSpPr>
        <p:spPr>
          <a:xfrm>
            <a:off x="822959" y="4937759"/>
            <a:ext cx="2936138" cy="914400"/>
          </a:xfrm>
          <a:prstGeom prst="rect">
            <a:avLst/>
          </a:prstGeom>
          <a:noFill/>
        </p:spPr>
        <p:txBody>
          <a:bodyPr wrap="square" lIns="0" rIns="0" tIns="0" bIns="0" anchor="t">
            <a:spAutoFit/>
          </a:bodyPr>
          <a:lstStyle/>
          <a:p>
            <a:pPr algn="l"/>
            <a:r>
              <a:rPr sz="1600" b="0" i="0">
                <a:solidFill>
                  <a:srgbClr val="4A5568"/>
                </a:solidFill>
                <a:latin typeface="Calibri"/>
              </a:rPr>
              <a:t>Each change is a revision. Undo with helm rollback.</a:t>
            </a:r>
          </a:p>
        </p:txBody>
      </p:sp>
      <p:sp>
        <p:nvSpPr>
          <p:cNvPr id="20" name="Rounded Rectangle 19"/>
          <p:cNvSpPr/>
          <p:nvPr/>
        </p:nvSpPr>
        <p:spPr>
          <a:xfrm>
            <a:off x="4353458" y="4023359"/>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27778" y="4297679"/>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2" name="TextBox 21"/>
          <p:cNvSpPr txBox="1"/>
          <p:nvPr/>
        </p:nvSpPr>
        <p:spPr>
          <a:xfrm>
            <a:off x="5313578" y="4315968"/>
            <a:ext cx="2296058" cy="457200"/>
          </a:xfrm>
          <a:prstGeom prst="rect">
            <a:avLst/>
          </a:prstGeom>
          <a:noFill/>
        </p:spPr>
        <p:txBody>
          <a:bodyPr wrap="square" lIns="0" rIns="0" tIns="0" bIns="0" anchor="t">
            <a:spAutoFit/>
          </a:bodyPr>
          <a:lstStyle/>
          <a:p>
            <a:pPr algn="l"/>
            <a:r>
              <a:rPr sz="1900" b="1" i="0">
                <a:solidFill>
                  <a:srgbClr val="1B2433"/>
                </a:solidFill>
                <a:latin typeface="Calibri"/>
              </a:rPr>
              <a:t>Ready-made apps</a:t>
            </a:r>
          </a:p>
        </p:txBody>
      </p:sp>
      <p:sp>
        <p:nvSpPr>
          <p:cNvPr id="23" name="TextBox 22"/>
          <p:cNvSpPr txBox="1"/>
          <p:nvPr/>
        </p:nvSpPr>
        <p:spPr>
          <a:xfrm>
            <a:off x="4627778" y="4937759"/>
            <a:ext cx="2936138" cy="914400"/>
          </a:xfrm>
          <a:prstGeom prst="rect">
            <a:avLst/>
          </a:prstGeom>
          <a:noFill/>
        </p:spPr>
        <p:txBody>
          <a:bodyPr wrap="square" lIns="0" rIns="0" tIns="0" bIns="0" anchor="t">
            <a:spAutoFit/>
          </a:bodyPr>
          <a:lstStyle/>
          <a:p>
            <a:pPr algn="l"/>
            <a:r>
              <a:rPr sz="1600" b="0" i="0">
                <a:solidFill>
                  <a:srgbClr val="4A5568"/>
                </a:solidFill>
                <a:latin typeface="Calibri"/>
              </a:rPr>
              <a:t>Install NGINX Ingress, Prometheus or MySQL from public charts.</a:t>
            </a:r>
          </a:p>
        </p:txBody>
      </p:sp>
      <p:sp>
        <p:nvSpPr>
          <p:cNvPr id="24" name="Rounded Rectangle 23"/>
          <p:cNvSpPr/>
          <p:nvPr/>
        </p:nvSpPr>
        <p:spPr>
          <a:xfrm>
            <a:off x="8158276" y="4023359"/>
            <a:ext cx="3484778" cy="196596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32596" y="4297679"/>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26" name="TextBox 25"/>
          <p:cNvSpPr txBox="1"/>
          <p:nvPr/>
        </p:nvSpPr>
        <p:spPr>
          <a:xfrm>
            <a:off x="9118396" y="4315968"/>
            <a:ext cx="2296058" cy="457200"/>
          </a:xfrm>
          <a:prstGeom prst="rect">
            <a:avLst/>
          </a:prstGeom>
          <a:noFill/>
        </p:spPr>
        <p:txBody>
          <a:bodyPr wrap="square" lIns="0" rIns="0" tIns="0" bIns="0" anchor="t">
            <a:spAutoFit/>
          </a:bodyPr>
          <a:lstStyle/>
          <a:p>
            <a:pPr algn="l"/>
            <a:r>
              <a:rPr sz="1900" b="1" i="0">
                <a:solidFill>
                  <a:srgbClr val="1B2433"/>
                </a:solidFill>
                <a:latin typeface="Calibri"/>
              </a:rPr>
              <a:t>Fewer mistakes</a:t>
            </a:r>
          </a:p>
        </p:txBody>
      </p:sp>
      <p:sp>
        <p:nvSpPr>
          <p:cNvPr id="27" name="TextBox 26"/>
          <p:cNvSpPr txBox="1"/>
          <p:nvPr/>
        </p:nvSpPr>
        <p:spPr>
          <a:xfrm>
            <a:off x="8432596" y="4937759"/>
            <a:ext cx="2936138" cy="914400"/>
          </a:xfrm>
          <a:prstGeom prst="rect">
            <a:avLst/>
          </a:prstGeom>
          <a:noFill/>
        </p:spPr>
        <p:txBody>
          <a:bodyPr wrap="square" lIns="0" rIns="0" tIns="0" bIns="0" anchor="t">
            <a:spAutoFit/>
          </a:bodyPr>
          <a:lstStyle/>
          <a:p>
            <a:pPr algn="l"/>
            <a:r>
              <a:rPr sz="1600" b="0" i="0">
                <a:solidFill>
                  <a:srgbClr val="4A5568"/>
                </a:solidFill>
                <a:latin typeface="Calibri"/>
              </a:rPr>
              <a:t>Names and labels come from one helper, so they always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WHERE YOU WILL MEET HELM</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Real-world use: install popular tools in one line</a:t>
            </a:r>
          </a:p>
        </p:txBody>
      </p:sp>
      <p:graphicFrame>
        <p:nvGraphicFramePr>
          <p:cNvPr id="4" name="Table 3"/>
          <p:cNvGraphicFramePr>
            <a:graphicFrameLocks noGrp="1"/>
          </p:cNvGraphicFramePr>
          <p:nvPr/>
        </p:nvGraphicFramePr>
        <p:xfrm>
          <a:off x="548640" y="1783080"/>
          <a:ext cx="11094415" cy="3401568"/>
        </p:xfrm>
        <a:graphic>
          <a:graphicData uri="http://schemas.openxmlformats.org/drawingml/2006/table">
            <a:tbl>
              <a:tblPr firstRow="1" bandRow="1">
                <a:tableStyleId>{5C22544A-7EE6-4342-B048-85BDC9FD1C3A}</a:tableStyleId>
              </a:tblPr>
              <a:tblGrid>
                <a:gridCol w="2377440"/>
                <a:gridCol w="3291840"/>
                <a:gridCol w="5425135"/>
              </a:tblGrid>
              <a:tr h="566928">
                <a:tc>
                  <a:txBody>
                    <a:bodyPr wrap="square"/>
                    <a:lstStyle/>
                    <a:p>
                      <a:r>
                        <a:rPr sz="1400" b="1">
                          <a:solidFill>
                            <a:srgbClr val="FFFFFF"/>
                          </a:solidFill>
                          <a:latin typeface="Calibri"/>
                        </a:rPr>
                        <a:t>Tool</a:t>
                      </a:r>
                    </a:p>
                  </a:txBody>
                  <a:tcPr marL="109728" marR="109728" anchor="ctr">
                    <a:solidFill>
                      <a:srgbClr val="13233A"/>
                    </a:solidFill>
                  </a:tcPr>
                </a:tc>
                <a:tc>
                  <a:txBody>
                    <a:bodyPr wrap="square"/>
                    <a:lstStyle/>
                    <a:p>
                      <a:r>
                        <a:rPr sz="1400" b="1">
                          <a:solidFill>
                            <a:srgbClr val="FFFFFF"/>
                          </a:solidFill>
                          <a:latin typeface="Calibri"/>
                        </a:rPr>
                        <a:t>What it does</a:t>
                      </a:r>
                    </a:p>
                  </a:txBody>
                  <a:tcPr marL="109728" marR="109728" anchor="ctr">
                    <a:solidFill>
                      <a:srgbClr val="13233A"/>
                    </a:solidFill>
                  </a:tcPr>
                </a:tc>
                <a:tc>
                  <a:txBody>
                    <a:bodyPr wrap="square"/>
                    <a:lstStyle/>
                    <a:p>
                      <a:r>
                        <a:rPr sz="1400" b="1">
                          <a:solidFill>
                            <a:srgbClr val="FFFFFF"/>
                          </a:solidFill>
                          <a:latin typeface="Calibri"/>
                        </a:rPr>
                        <a:t>Install with Helm</a:t>
                      </a:r>
                    </a:p>
                  </a:txBody>
                  <a:tcPr marL="109728" marR="109728" anchor="ctr">
                    <a:solidFill>
                      <a:srgbClr val="13233A"/>
                    </a:solidFill>
                  </a:tcPr>
                </a:tc>
              </a:tr>
              <a:tr h="566928">
                <a:tc>
                  <a:txBody>
                    <a:bodyPr wrap="square"/>
                    <a:lstStyle/>
                    <a:p>
                      <a:r>
                        <a:rPr sz="1400" b="0">
                          <a:solidFill>
                            <a:srgbClr val="1B2433"/>
                          </a:solidFill>
                          <a:latin typeface="Calibri"/>
                        </a:rPr>
                        <a:t>ingress-nginx</a:t>
                      </a:r>
                    </a:p>
                  </a:txBody>
                  <a:tcPr marL="109728" marR="109728" anchor="ctr">
                    <a:solidFill>
                      <a:srgbClr val="FFFFFF"/>
                    </a:solidFill>
                  </a:tcPr>
                </a:tc>
                <a:tc>
                  <a:txBody>
                    <a:bodyPr wrap="square"/>
                    <a:lstStyle/>
                    <a:p>
                      <a:r>
                        <a:rPr sz="1400" b="0">
                          <a:solidFill>
                            <a:srgbClr val="1B2433"/>
                          </a:solidFill>
                          <a:latin typeface="Calibri"/>
                        </a:rPr>
                        <a:t>One entry point (URL routing) for all apps</a:t>
                      </a:r>
                    </a:p>
                  </a:txBody>
                  <a:tcPr marL="109728" marR="109728" anchor="ctr">
                    <a:solidFill>
                      <a:srgbClr val="FFFFFF"/>
                    </a:solidFill>
                  </a:tcPr>
                </a:tc>
                <a:tc>
                  <a:txBody>
                    <a:bodyPr wrap="square"/>
                    <a:lstStyle/>
                    <a:p>
                      <a:r>
                        <a:rPr sz="1400" b="0">
                          <a:solidFill>
                            <a:srgbClr val="1B2433"/>
                          </a:solidFill>
                          <a:latin typeface="Consolas"/>
                        </a:rPr>
                        <a:t>helm install ingress ingress-nginx/ingress-nginx</a:t>
                      </a:r>
                    </a:p>
                  </a:txBody>
                  <a:tcPr marL="109728" marR="109728" anchor="ctr">
                    <a:solidFill>
                      <a:srgbClr val="FFFFFF"/>
                    </a:solidFill>
                  </a:tcPr>
                </a:tc>
              </a:tr>
              <a:tr h="566928">
                <a:tc>
                  <a:txBody>
                    <a:bodyPr wrap="square"/>
                    <a:lstStyle/>
                    <a:p>
                      <a:r>
                        <a:rPr sz="1400" b="0">
                          <a:solidFill>
                            <a:srgbClr val="1B2433"/>
                          </a:solidFill>
                          <a:latin typeface="Calibri"/>
                        </a:rPr>
                        <a:t>kube-prometheus-stack</a:t>
                      </a:r>
                    </a:p>
                  </a:txBody>
                  <a:tcPr marL="109728" marR="109728" anchor="ctr">
                    <a:solidFill>
                      <a:srgbClr val="E6EBF2"/>
                    </a:solidFill>
                  </a:tcPr>
                </a:tc>
                <a:tc>
                  <a:txBody>
                    <a:bodyPr wrap="square"/>
                    <a:lstStyle/>
                    <a:p>
                      <a:r>
                        <a:rPr sz="1400" b="0">
                          <a:solidFill>
                            <a:srgbClr val="1B2433"/>
                          </a:solidFill>
                          <a:latin typeface="Calibri"/>
                        </a:rPr>
                        <a:t>Monitoring: Prometheus + Grafana</a:t>
                      </a:r>
                    </a:p>
                  </a:txBody>
                  <a:tcPr marL="109728" marR="109728" anchor="ctr">
                    <a:solidFill>
                      <a:srgbClr val="E6EBF2"/>
                    </a:solidFill>
                  </a:tcPr>
                </a:tc>
                <a:tc>
                  <a:txBody>
                    <a:bodyPr wrap="square"/>
                    <a:lstStyle/>
                    <a:p>
                      <a:r>
                        <a:rPr sz="1400" b="0">
                          <a:solidFill>
                            <a:srgbClr val="1B2433"/>
                          </a:solidFill>
                          <a:latin typeface="Consolas"/>
                        </a:rPr>
                        <a:t>helm install mon prometheus-community/kube-prometheus-stack</a:t>
                      </a:r>
                    </a:p>
                  </a:txBody>
                  <a:tcPr marL="109728" marR="109728" anchor="ctr">
                    <a:solidFill>
                      <a:srgbClr val="E6EBF2"/>
                    </a:solidFill>
                  </a:tcPr>
                </a:tc>
              </a:tr>
              <a:tr h="566928">
                <a:tc>
                  <a:txBody>
                    <a:bodyPr wrap="square"/>
                    <a:lstStyle/>
                    <a:p>
                      <a:r>
                        <a:rPr sz="1400" b="0">
                          <a:solidFill>
                            <a:srgbClr val="1B2433"/>
                          </a:solidFill>
                          <a:latin typeface="Calibri"/>
                        </a:rPr>
                        <a:t>cert-manager</a:t>
                      </a:r>
                    </a:p>
                  </a:txBody>
                  <a:tcPr marL="109728" marR="109728" anchor="ctr">
                    <a:solidFill>
                      <a:srgbClr val="FFFFFF"/>
                    </a:solidFill>
                  </a:tcPr>
                </a:tc>
                <a:tc>
                  <a:txBody>
                    <a:bodyPr wrap="square"/>
                    <a:lstStyle/>
                    <a:p>
                      <a:r>
                        <a:rPr sz="1400" b="0">
                          <a:solidFill>
                            <a:srgbClr val="1B2433"/>
                          </a:solidFill>
                          <a:latin typeface="Calibri"/>
                        </a:rPr>
                        <a:t>Free HTTPS certificates</a:t>
                      </a:r>
                    </a:p>
                  </a:txBody>
                  <a:tcPr marL="109728" marR="109728" anchor="ctr">
                    <a:solidFill>
                      <a:srgbClr val="FFFFFF"/>
                    </a:solidFill>
                  </a:tcPr>
                </a:tc>
                <a:tc>
                  <a:txBody>
                    <a:bodyPr wrap="square"/>
                    <a:lstStyle/>
                    <a:p>
                      <a:r>
                        <a:rPr sz="1400" b="0">
                          <a:solidFill>
                            <a:srgbClr val="1B2433"/>
                          </a:solidFill>
                          <a:latin typeface="Consolas"/>
                        </a:rPr>
                        <a:t>helm install cm jetstack/cert-manager --set crds.enabled=true</a:t>
                      </a:r>
                    </a:p>
                  </a:txBody>
                  <a:tcPr marL="109728" marR="109728" anchor="ctr">
                    <a:solidFill>
                      <a:srgbClr val="FFFFFF"/>
                    </a:solidFill>
                  </a:tcPr>
                </a:tc>
              </a:tr>
              <a:tr h="566928">
                <a:tc>
                  <a:txBody>
                    <a:bodyPr wrap="square"/>
                    <a:lstStyle/>
                    <a:p>
                      <a:r>
                        <a:rPr sz="1400" b="0">
                          <a:solidFill>
                            <a:srgbClr val="1B2433"/>
                          </a:solidFill>
                          <a:latin typeface="Calibri"/>
                        </a:rPr>
                        <a:t>argo-cd</a:t>
                      </a:r>
                    </a:p>
                  </a:txBody>
                  <a:tcPr marL="109728" marR="109728" anchor="ctr">
                    <a:solidFill>
                      <a:srgbClr val="E6EBF2"/>
                    </a:solidFill>
                  </a:tcPr>
                </a:tc>
                <a:tc>
                  <a:txBody>
                    <a:bodyPr wrap="square"/>
                    <a:lstStyle/>
                    <a:p>
                      <a:r>
                        <a:rPr sz="1400" b="0">
                          <a:solidFill>
                            <a:srgbClr val="1B2433"/>
                          </a:solidFill>
                          <a:latin typeface="Calibri"/>
                        </a:rPr>
                        <a:t>GitOps: deploy from Git</a:t>
                      </a:r>
                    </a:p>
                  </a:txBody>
                  <a:tcPr marL="109728" marR="109728" anchor="ctr">
                    <a:solidFill>
                      <a:srgbClr val="E6EBF2"/>
                    </a:solidFill>
                  </a:tcPr>
                </a:tc>
                <a:tc>
                  <a:txBody>
                    <a:bodyPr wrap="square"/>
                    <a:lstStyle/>
                    <a:p>
                      <a:r>
                        <a:rPr sz="1400" b="0">
                          <a:solidFill>
                            <a:srgbClr val="1B2433"/>
                          </a:solidFill>
                          <a:latin typeface="Consolas"/>
                        </a:rPr>
                        <a:t>helm install argocd argo/argo-cd</a:t>
                      </a:r>
                    </a:p>
                  </a:txBody>
                  <a:tcPr marL="109728" marR="109728" anchor="ctr">
                    <a:solidFill>
                      <a:srgbClr val="E6EBF2"/>
                    </a:solidFill>
                  </a:tcPr>
                </a:tc>
              </a:tr>
              <a:tr h="566928">
                <a:tc>
                  <a:txBody>
                    <a:bodyPr wrap="square"/>
                    <a:lstStyle/>
                    <a:p>
                      <a:r>
                        <a:rPr sz="1400" b="0">
                          <a:solidFill>
                            <a:srgbClr val="1B2433"/>
                          </a:solidFill>
                          <a:latin typeface="Calibri"/>
                        </a:rPr>
                        <a:t>mysql / redis</a:t>
                      </a:r>
                    </a:p>
                  </a:txBody>
                  <a:tcPr marL="109728" marR="109728" anchor="ctr">
                    <a:solidFill>
                      <a:srgbClr val="FFFFFF"/>
                    </a:solidFill>
                  </a:tcPr>
                </a:tc>
                <a:tc>
                  <a:txBody>
                    <a:bodyPr wrap="square"/>
                    <a:lstStyle/>
                    <a:p>
                      <a:r>
                        <a:rPr sz="1400" b="0">
                          <a:solidFill>
                            <a:srgbClr val="1B2433"/>
                          </a:solidFill>
                          <a:latin typeface="Calibri"/>
                        </a:rPr>
                        <a:t>Databases for practice</a:t>
                      </a:r>
                    </a:p>
                  </a:txBody>
                  <a:tcPr marL="109728" marR="109728" anchor="ctr">
                    <a:solidFill>
                      <a:srgbClr val="FFFFFF"/>
                    </a:solidFill>
                  </a:tcPr>
                </a:tc>
                <a:tc>
                  <a:txBody>
                    <a:bodyPr wrap="square"/>
                    <a:lstStyle/>
                    <a:p>
                      <a:r>
                        <a:rPr sz="1400" b="0">
                          <a:solidFill>
                            <a:srgbClr val="1B2433"/>
                          </a:solidFill>
                          <a:latin typeface="Consolas"/>
                        </a:rPr>
                        <a:t>helm install db bitnami/mysql</a:t>
                      </a:r>
                    </a:p>
                  </a:txBody>
                  <a:tcPr marL="109728" marR="109728" anchor="ctr">
                    <a:solidFill>
                      <a:srgbClr val="FFFFFF"/>
                    </a:solidFill>
                  </a:tcPr>
                </a:tc>
              </a:tr>
            </a:tbl>
          </a:graphicData>
        </a:graphic>
      </p:graphicFrame>
      <p:sp>
        <p:nvSpPr>
          <p:cNvPr id="5" name="TextBox 4"/>
          <p:cNvSpPr txBox="1"/>
          <p:nvPr/>
        </p:nvSpPr>
        <p:spPr>
          <a:xfrm>
            <a:off x="548640" y="5486400"/>
            <a:ext cx="11094415" cy="731520"/>
          </a:xfrm>
          <a:prstGeom prst="rect">
            <a:avLst/>
          </a:prstGeom>
          <a:noFill/>
        </p:spPr>
        <p:txBody>
          <a:bodyPr wrap="square" lIns="0" rIns="0" tIns="0" bIns="0" anchor="t">
            <a:spAutoFit/>
          </a:bodyPr>
          <a:lstStyle/>
          <a:p>
            <a:pPr algn="l"/>
            <a:r>
              <a:rPr sz="1700" b="1" i="0">
                <a:solidFill>
                  <a:srgbClr val="4A5568"/>
                </a:solidFill>
                <a:latin typeface="Calibri"/>
              </a:rPr>
              <a:t>Each one is hundreds of lines of YAML. </a:t>
            </a:r>
            <a:r>
              <a:rPr sz="1700" b="0" i="0">
                <a:solidFill>
                  <a:srgbClr val="4A5568"/>
                </a:solidFill>
                <a:latin typeface="Calibri"/>
              </a:rPr>
              <a:t>With Helm you add the repo once (helm repo add …), then install it like an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INSIDE A CHART</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A chart is just a folder with a fixed layout</a:t>
            </a:r>
          </a:p>
        </p:txBody>
      </p:sp>
      <p:sp>
        <p:nvSpPr>
          <p:cNvPr id="4" name="Rounded Rectangle 3"/>
          <p:cNvSpPr/>
          <p:nvPr/>
        </p:nvSpPr>
        <p:spPr>
          <a:xfrm>
            <a:off x="548640" y="1783080"/>
            <a:ext cx="4846320" cy="448056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11680"/>
            <a:ext cx="4297680" cy="4069080"/>
          </a:xfrm>
          <a:prstGeom prst="rect">
            <a:avLst/>
          </a:prstGeom>
          <a:noFill/>
        </p:spPr>
        <p:txBody>
          <a:bodyPr wrap="square" lIns="0" rIns="0" tIns="0" bIns="0" anchor="t">
            <a:spAutoFit/>
          </a:bodyPr>
          <a:lstStyle/>
          <a:p>
            <a:pPr algn="l"/>
            <a:r>
              <a:rPr sz="1700" b="0" i="0">
                <a:solidFill>
                  <a:srgbClr val="E6EDF5"/>
                </a:solidFill>
                <a:latin typeface="Consolas"/>
              </a:rPr>
              <a:t>myjavaapp/</a:t>
            </a:r>
          </a:p>
          <a:p>
            <a:pPr algn="l"/>
            <a:r>
              <a:rPr sz="1700" b="0" i="0">
                <a:solidFill>
                  <a:srgbClr val="E6EDF5"/>
                </a:solidFill>
                <a:latin typeface="Consolas"/>
              </a:rPr>
              <a:t>├── Chart.yaml</a:t>
            </a:r>
          </a:p>
          <a:p>
            <a:pPr algn="l"/>
            <a:r>
              <a:rPr sz="1700" b="0" i="0">
                <a:solidFill>
                  <a:srgbClr val="E6EDF5"/>
                </a:solidFill>
                <a:latin typeface="Consolas"/>
              </a:rPr>
              <a:t>├── values.yaml</a:t>
            </a:r>
          </a:p>
          <a:p>
            <a:pPr algn="l"/>
            <a:r>
              <a:rPr sz="1700" b="0" i="0">
                <a:solidFill>
                  <a:srgbClr val="E6EDF5"/>
                </a:solidFill>
                <a:latin typeface="Consolas"/>
              </a:rPr>
              <a:t>├── values-dev.yaml</a:t>
            </a:r>
          </a:p>
          <a:p>
            <a:pPr algn="l"/>
            <a:r>
              <a:rPr sz="1700" b="0" i="0">
                <a:solidFill>
                  <a:srgbClr val="E6EDF5"/>
                </a:solidFill>
                <a:latin typeface="Consolas"/>
              </a:rPr>
              <a:t>├── values-prod.yaml</a:t>
            </a:r>
          </a:p>
          <a:p>
            <a:pPr algn="l"/>
            <a:r>
              <a:rPr sz="1700" b="0" i="0">
                <a:solidFill>
                  <a:srgbClr val="E6EDF5"/>
                </a:solidFill>
                <a:latin typeface="Consolas"/>
              </a:rPr>
              <a:t>└── templates/</a:t>
            </a:r>
          </a:p>
          <a:p>
            <a:pPr algn="l"/>
            <a:r>
              <a:rPr sz="1700" b="0" i="0">
                <a:solidFill>
                  <a:srgbClr val="E6EDF5"/>
                </a:solidFill>
                <a:latin typeface="Consolas"/>
              </a:rPr>
              <a:t>    ├── _helpers.tpl</a:t>
            </a:r>
          </a:p>
          <a:p>
            <a:pPr algn="l"/>
            <a:r>
              <a:rPr sz="1700" b="0" i="0">
                <a:solidFill>
                  <a:srgbClr val="E6EDF5"/>
                </a:solidFill>
                <a:latin typeface="Consolas"/>
              </a:rPr>
              <a:t>    ├── deployment.yaml</a:t>
            </a:r>
          </a:p>
          <a:p>
            <a:pPr algn="l"/>
            <a:r>
              <a:rPr sz="1700" b="0" i="0">
                <a:solidFill>
                  <a:srgbClr val="E6EDF5"/>
                </a:solidFill>
                <a:latin typeface="Consolas"/>
              </a:rPr>
              <a:t>    ├── service.yaml</a:t>
            </a:r>
          </a:p>
          <a:p>
            <a:pPr algn="l"/>
            <a:r>
              <a:rPr sz="1700" b="0" i="0">
                <a:solidFill>
                  <a:srgbClr val="E6EDF5"/>
                </a:solidFill>
                <a:latin typeface="Consolas"/>
              </a:rPr>
              <a:t>    └── NOTES.txt</a:t>
            </a:r>
          </a:p>
        </p:txBody>
      </p:sp>
      <p:sp>
        <p:nvSpPr>
          <p:cNvPr id="6" name="TextBox 5"/>
          <p:cNvSpPr txBox="1"/>
          <p:nvPr/>
        </p:nvSpPr>
        <p:spPr>
          <a:xfrm>
            <a:off x="5852160" y="1783080"/>
            <a:ext cx="5760720" cy="320040"/>
          </a:xfrm>
          <a:prstGeom prst="rect">
            <a:avLst/>
          </a:prstGeom>
          <a:noFill/>
        </p:spPr>
        <p:txBody>
          <a:bodyPr wrap="square" lIns="0" rIns="0" tIns="0" bIns="0" anchor="t">
            <a:spAutoFit/>
          </a:bodyPr>
          <a:lstStyle/>
          <a:p>
            <a:pPr algn="l"/>
            <a:r>
              <a:rPr sz="1700" b="1" i="0">
                <a:solidFill>
                  <a:srgbClr val="2E6FD8"/>
                </a:solidFill>
                <a:latin typeface="Consolas"/>
              </a:rPr>
              <a:t>Chart.yaml</a:t>
            </a:r>
          </a:p>
        </p:txBody>
      </p:sp>
      <p:sp>
        <p:nvSpPr>
          <p:cNvPr id="7" name="TextBox 6"/>
          <p:cNvSpPr txBox="1"/>
          <p:nvPr/>
        </p:nvSpPr>
        <p:spPr>
          <a:xfrm>
            <a:off x="5852160" y="2112264"/>
            <a:ext cx="5760720" cy="365760"/>
          </a:xfrm>
          <a:prstGeom prst="rect">
            <a:avLst/>
          </a:prstGeom>
          <a:noFill/>
        </p:spPr>
        <p:txBody>
          <a:bodyPr wrap="square" lIns="0" rIns="0" tIns="0" bIns="0" anchor="t">
            <a:spAutoFit/>
          </a:bodyPr>
          <a:lstStyle/>
          <a:p>
            <a:pPr algn="l"/>
            <a:r>
              <a:rPr sz="1600" b="0" i="0">
                <a:solidFill>
                  <a:srgbClr val="4A5568"/>
                </a:solidFill>
                <a:latin typeface="Calibri"/>
              </a:rPr>
              <a:t>Chart name, chart version, app version</a:t>
            </a:r>
          </a:p>
        </p:txBody>
      </p:sp>
      <p:sp>
        <p:nvSpPr>
          <p:cNvPr id="8" name="TextBox 7"/>
          <p:cNvSpPr txBox="1"/>
          <p:nvPr/>
        </p:nvSpPr>
        <p:spPr>
          <a:xfrm>
            <a:off x="5852160" y="2532888"/>
            <a:ext cx="5760720" cy="320040"/>
          </a:xfrm>
          <a:prstGeom prst="rect">
            <a:avLst/>
          </a:prstGeom>
          <a:noFill/>
        </p:spPr>
        <p:txBody>
          <a:bodyPr wrap="square" lIns="0" rIns="0" tIns="0" bIns="0" anchor="t">
            <a:spAutoFit/>
          </a:bodyPr>
          <a:lstStyle/>
          <a:p>
            <a:pPr algn="l"/>
            <a:r>
              <a:rPr sz="1700" b="1" i="0">
                <a:solidFill>
                  <a:srgbClr val="2E6FD8"/>
                </a:solidFill>
                <a:latin typeface="Consolas"/>
              </a:rPr>
              <a:t>values.yaml</a:t>
            </a:r>
          </a:p>
        </p:txBody>
      </p:sp>
      <p:sp>
        <p:nvSpPr>
          <p:cNvPr id="9" name="TextBox 8"/>
          <p:cNvSpPr txBox="1"/>
          <p:nvPr/>
        </p:nvSpPr>
        <p:spPr>
          <a:xfrm>
            <a:off x="5852160" y="2862072"/>
            <a:ext cx="5760720" cy="365760"/>
          </a:xfrm>
          <a:prstGeom prst="rect">
            <a:avLst/>
          </a:prstGeom>
          <a:noFill/>
        </p:spPr>
        <p:txBody>
          <a:bodyPr wrap="square" lIns="0" rIns="0" tIns="0" bIns="0" anchor="t">
            <a:spAutoFit/>
          </a:bodyPr>
          <a:lstStyle/>
          <a:p>
            <a:pPr algn="l"/>
            <a:r>
              <a:rPr sz="1600" b="0" i="0">
                <a:solidFill>
                  <a:srgbClr val="4A5568"/>
                </a:solidFill>
                <a:latin typeface="Calibri"/>
              </a:rPr>
              <a:t>Default settings; anyone can override them</a:t>
            </a:r>
          </a:p>
        </p:txBody>
      </p:sp>
      <p:sp>
        <p:nvSpPr>
          <p:cNvPr id="10" name="TextBox 9"/>
          <p:cNvSpPr txBox="1"/>
          <p:nvPr/>
        </p:nvSpPr>
        <p:spPr>
          <a:xfrm>
            <a:off x="5852160" y="3282696"/>
            <a:ext cx="5760720" cy="320040"/>
          </a:xfrm>
          <a:prstGeom prst="rect">
            <a:avLst/>
          </a:prstGeom>
          <a:noFill/>
        </p:spPr>
        <p:txBody>
          <a:bodyPr wrap="square" lIns="0" rIns="0" tIns="0" bIns="0" anchor="t">
            <a:spAutoFit/>
          </a:bodyPr>
          <a:lstStyle/>
          <a:p>
            <a:pPr algn="l"/>
            <a:r>
              <a:rPr sz="1700" b="1" i="0">
                <a:solidFill>
                  <a:srgbClr val="2E6FD8"/>
                </a:solidFill>
                <a:latin typeface="Consolas"/>
              </a:rPr>
              <a:t>values-dev / values-prod</a:t>
            </a:r>
          </a:p>
        </p:txBody>
      </p:sp>
      <p:sp>
        <p:nvSpPr>
          <p:cNvPr id="11" name="TextBox 10"/>
          <p:cNvSpPr txBox="1"/>
          <p:nvPr/>
        </p:nvSpPr>
        <p:spPr>
          <a:xfrm>
            <a:off x="5852160" y="3611879"/>
            <a:ext cx="5760720" cy="365760"/>
          </a:xfrm>
          <a:prstGeom prst="rect">
            <a:avLst/>
          </a:prstGeom>
          <a:noFill/>
        </p:spPr>
        <p:txBody>
          <a:bodyPr wrap="square" lIns="0" rIns="0" tIns="0" bIns="0" anchor="t">
            <a:spAutoFit/>
          </a:bodyPr>
          <a:lstStyle/>
          <a:p>
            <a:pPr algn="l"/>
            <a:r>
              <a:rPr sz="1600" b="0" i="0">
                <a:solidFill>
                  <a:srgbClr val="4A5568"/>
                </a:solidFill>
                <a:latin typeface="Calibri"/>
              </a:rPr>
              <a:t>Our own per-environment overrides</a:t>
            </a:r>
          </a:p>
        </p:txBody>
      </p:sp>
      <p:sp>
        <p:nvSpPr>
          <p:cNvPr id="12" name="TextBox 11"/>
          <p:cNvSpPr txBox="1"/>
          <p:nvPr/>
        </p:nvSpPr>
        <p:spPr>
          <a:xfrm>
            <a:off x="5852160" y="4032504"/>
            <a:ext cx="5760720" cy="320040"/>
          </a:xfrm>
          <a:prstGeom prst="rect">
            <a:avLst/>
          </a:prstGeom>
          <a:noFill/>
        </p:spPr>
        <p:txBody>
          <a:bodyPr wrap="square" lIns="0" rIns="0" tIns="0" bIns="0" anchor="t">
            <a:spAutoFit/>
          </a:bodyPr>
          <a:lstStyle/>
          <a:p>
            <a:pPr algn="l"/>
            <a:r>
              <a:rPr sz="1700" b="1" i="0">
                <a:solidFill>
                  <a:srgbClr val="2E6FD8"/>
                </a:solidFill>
                <a:latin typeface="Consolas"/>
              </a:rPr>
              <a:t>templates/</a:t>
            </a:r>
          </a:p>
        </p:txBody>
      </p:sp>
      <p:sp>
        <p:nvSpPr>
          <p:cNvPr id="13" name="TextBox 12"/>
          <p:cNvSpPr txBox="1"/>
          <p:nvPr/>
        </p:nvSpPr>
        <p:spPr>
          <a:xfrm>
            <a:off x="5852160" y="4361688"/>
            <a:ext cx="5760720" cy="365760"/>
          </a:xfrm>
          <a:prstGeom prst="rect">
            <a:avLst/>
          </a:prstGeom>
          <a:noFill/>
        </p:spPr>
        <p:txBody>
          <a:bodyPr wrap="square" lIns="0" rIns="0" tIns="0" bIns="0" anchor="t">
            <a:spAutoFit/>
          </a:bodyPr>
          <a:lstStyle/>
          <a:p>
            <a:pPr algn="l"/>
            <a:r>
              <a:rPr sz="1600" b="0" i="0">
                <a:solidFill>
                  <a:srgbClr val="4A5568"/>
                </a:solidFill>
                <a:latin typeface="Calibri"/>
              </a:rPr>
              <a:t>Kubernetes YAML with {{ }} placeholders</a:t>
            </a:r>
          </a:p>
        </p:txBody>
      </p:sp>
      <p:sp>
        <p:nvSpPr>
          <p:cNvPr id="14" name="TextBox 13"/>
          <p:cNvSpPr txBox="1"/>
          <p:nvPr/>
        </p:nvSpPr>
        <p:spPr>
          <a:xfrm>
            <a:off x="5852160" y="4782312"/>
            <a:ext cx="5760720" cy="320040"/>
          </a:xfrm>
          <a:prstGeom prst="rect">
            <a:avLst/>
          </a:prstGeom>
          <a:noFill/>
        </p:spPr>
        <p:txBody>
          <a:bodyPr wrap="square" lIns="0" rIns="0" tIns="0" bIns="0" anchor="t">
            <a:spAutoFit/>
          </a:bodyPr>
          <a:lstStyle/>
          <a:p>
            <a:pPr algn="l"/>
            <a:r>
              <a:rPr sz="1700" b="1" i="0">
                <a:solidFill>
                  <a:srgbClr val="2E6FD8"/>
                </a:solidFill>
                <a:latin typeface="Consolas"/>
              </a:rPr>
              <a:t>_helpers.tpl</a:t>
            </a:r>
          </a:p>
        </p:txBody>
      </p:sp>
      <p:sp>
        <p:nvSpPr>
          <p:cNvPr id="15" name="TextBox 14"/>
          <p:cNvSpPr txBox="1"/>
          <p:nvPr/>
        </p:nvSpPr>
        <p:spPr>
          <a:xfrm>
            <a:off x="5852160" y="5111496"/>
            <a:ext cx="5760720" cy="365760"/>
          </a:xfrm>
          <a:prstGeom prst="rect">
            <a:avLst/>
          </a:prstGeom>
          <a:noFill/>
        </p:spPr>
        <p:txBody>
          <a:bodyPr wrap="square" lIns="0" rIns="0" tIns="0" bIns="0" anchor="t">
            <a:spAutoFit/>
          </a:bodyPr>
          <a:lstStyle/>
          <a:p>
            <a:pPr algn="l"/>
            <a:r>
              <a:rPr sz="1600" b="0" i="0">
                <a:solidFill>
                  <a:srgbClr val="4A5568"/>
                </a:solidFill>
                <a:latin typeface="Calibri"/>
              </a:rPr>
              <a:t>Reusable snippets, such as names and labels</a:t>
            </a:r>
          </a:p>
        </p:txBody>
      </p:sp>
      <p:sp>
        <p:nvSpPr>
          <p:cNvPr id="16" name="TextBox 15"/>
          <p:cNvSpPr txBox="1"/>
          <p:nvPr/>
        </p:nvSpPr>
        <p:spPr>
          <a:xfrm>
            <a:off x="5852160" y="5532120"/>
            <a:ext cx="5760720" cy="320040"/>
          </a:xfrm>
          <a:prstGeom prst="rect">
            <a:avLst/>
          </a:prstGeom>
          <a:noFill/>
        </p:spPr>
        <p:txBody>
          <a:bodyPr wrap="square" lIns="0" rIns="0" tIns="0" bIns="0" anchor="t">
            <a:spAutoFit/>
          </a:bodyPr>
          <a:lstStyle/>
          <a:p>
            <a:pPr algn="l"/>
            <a:r>
              <a:rPr sz="1700" b="1" i="0">
                <a:solidFill>
                  <a:srgbClr val="2E6FD8"/>
                </a:solidFill>
                <a:latin typeface="Consolas"/>
              </a:rPr>
              <a:t>NOTES.txt</a:t>
            </a:r>
          </a:p>
        </p:txBody>
      </p:sp>
      <p:sp>
        <p:nvSpPr>
          <p:cNvPr id="17" name="TextBox 16"/>
          <p:cNvSpPr txBox="1"/>
          <p:nvPr/>
        </p:nvSpPr>
        <p:spPr>
          <a:xfrm>
            <a:off x="5852160" y="5861304"/>
            <a:ext cx="5760720" cy="365760"/>
          </a:xfrm>
          <a:prstGeom prst="rect">
            <a:avLst/>
          </a:prstGeom>
          <a:noFill/>
        </p:spPr>
        <p:txBody>
          <a:bodyPr wrap="square" lIns="0" rIns="0" tIns="0" bIns="0" anchor="t">
            <a:spAutoFit/>
          </a:bodyPr>
          <a:lstStyle/>
          <a:p>
            <a:pPr algn="l"/>
            <a:r>
              <a:rPr sz="1600" b="0" i="0">
                <a:solidFill>
                  <a:srgbClr val="4A5568"/>
                </a:solidFill>
                <a:latin typeface="Calibri"/>
              </a:rPr>
              <a:t>Message Helm prints after install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6EBF2"/>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HOW IT WORKS</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Templates + values = the final Kubernetes YAML</a:t>
            </a:r>
          </a:p>
        </p:txBody>
      </p:sp>
      <p:sp>
        <p:nvSpPr>
          <p:cNvPr id="4" name="Rounded Rectangle 3"/>
          <p:cNvSpPr/>
          <p:nvPr/>
        </p:nvSpPr>
        <p:spPr>
          <a:xfrm>
            <a:off x="548640" y="2103120"/>
            <a:ext cx="3291840" cy="12344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286000"/>
            <a:ext cx="2834640" cy="365760"/>
          </a:xfrm>
          <a:prstGeom prst="rect">
            <a:avLst/>
          </a:prstGeom>
          <a:noFill/>
        </p:spPr>
        <p:txBody>
          <a:bodyPr wrap="square" lIns="0" rIns="0" tIns="0" bIns="0" anchor="t">
            <a:spAutoFit/>
          </a:bodyPr>
          <a:lstStyle/>
          <a:p>
            <a:pPr algn="l"/>
            <a:r>
              <a:rPr sz="1600" b="1" i="0">
                <a:solidFill>
                  <a:srgbClr val="1B2433"/>
                </a:solidFill>
                <a:latin typeface="Calibri"/>
              </a:rPr>
              <a:t>values.yaml</a:t>
            </a:r>
          </a:p>
        </p:txBody>
      </p:sp>
      <p:sp>
        <p:nvSpPr>
          <p:cNvPr id="6" name="TextBox 5"/>
          <p:cNvSpPr txBox="1"/>
          <p:nvPr/>
        </p:nvSpPr>
        <p:spPr>
          <a:xfrm>
            <a:off x="777240" y="2743200"/>
            <a:ext cx="2834640" cy="365760"/>
          </a:xfrm>
          <a:prstGeom prst="rect">
            <a:avLst/>
          </a:prstGeom>
          <a:noFill/>
        </p:spPr>
        <p:txBody>
          <a:bodyPr wrap="square" lIns="0" rIns="0" tIns="0" bIns="0" anchor="t">
            <a:spAutoFit/>
          </a:bodyPr>
          <a:lstStyle/>
          <a:p>
            <a:pPr algn="l"/>
            <a:r>
              <a:rPr sz="1500" b="0" i="0">
                <a:solidFill>
                  <a:srgbClr val="2E6FD8"/>
                </a:solidFill>
                <a:latin typeface="Consolas"/>
              </a:rPr>
              <a:t>replicaCount: 2</a:t>
            </a:r>
          </a:p>
        </p:txBody>
      </p:sp>
      <p:sp>
        <p:nvSpPr>
          <p:cNvPr id="7" name="Rounded Rectangle 6"/>
          <p:cNvSpPr/>
          <p:nvPr/>
        </p:nvSpPr>
        <p:spPr>
          <a:xfrm>
            <a:off x="548640" y="3566160"/>
            <a:ext cx="3291840" cy="14630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749039"/>
            <a:ext cx="2834640" cy="365760"/>
          </a:xfrm>
          <a:prstGeom prst="rect">
            <a:avLst/>
          </a:prstGeom>
          <a:noFill/>
        </p:spPr>
        <p:txBody>
          <a:bodyPr wrap="square" lIns="0" rIns="0" tIns="0" bIns="0" anchor="t">
            <a:spAutoFit/>
          </a:bodyPr>
          <a:lstStyle/>
          <a:p>
            <a:pPr algn="l"/>
            <a:r>
              <a:rPr sz="1600" b="1" i="0">
                <a:solidFill>
                  <a:srgbClr val="1B2433"/>
                </a:solidFill>
                <a:latin typeface="Calibri"/>
              </a:rPr>
              <a:t>templates/deployment.yaml</a:t>
            </a:r>
          </a:p>
        </p:txBody>
      </p:sp>
      <p:sp>
        <p:nvSpPr>
          <p:cNvPr id="9" name="TextBox 8"/>
          <p:cNvSpPr txBox="1"/>
          <p:nvPr/>
        </p:nvSpPr>
        <p:spPr>
          <a:xfrm>
            <a:off x="777240" y="4160520"/>
            <a:ext cx="2834640" cy="731520"/>
          </a:xfrm>
          <a:prstGeom prst="rect">
            <a:avLst/>
          </a:prstGeom>
          <a:noFill/>
        </p:spPr>
        <p:txBody>
          <a:bodyPr wrap="square" lIns="0" rIns="0" tIns="0" bIns="0" anchor="t">
            <a:spAutoFit/>
          </a:bodyPr>
          <a:lstStyle/>
          <a:p>
            <a:pPr algn="l"/>
            <a:r>
              <a:rPr sz="1500" b="0" i="0">
                <a:solidFill>
                  <a:srgbClr val="2E6FD8"/>
                </a:solidFill>
                <a:latin typeface="Consolas"/>
              </a:rPr>
              <a:t>replicas:</a:t>
            </a:r>
          </a:p>
          <a:p>
            <a:pPr algn="l"/>
            <a:r>
              <a:rPr sz="1500" b="0" i="0">
                <a:solidFill>
                  <a:srgbClr val="2E6FD8"/>
                </a:solidFill>
                <a:latin typeface="Consolas"/>
              </a:rPr>
              <a:t>{{ .Values.replicaCount }}</a:t>
            </a:r>
          </a:p>
        </p:txBody>
      </p:sp>
      <p:sp>
        <p:nvSpPr>
          <p:cNvPr id="10" name="Right Arrow 9"/>
          <p:cNvSpPr/>
          <p:nvPr/>
        </p:nvSpPr>
        <p:spPr>
          <a:xfrm>
            <a:off x="3931920" y="3383279"/>
            <a:ext cx="502920" cy="36576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6492240" y="3383279"/>
            <a:ext cx="502920" cy="36576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9052560" y="3383279"/>
            <a:ext cx="502920" cy="36576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26280" y="2788920"/>
            <a:ext cx="1874519" cy="155448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3017520"/>
            <a:ext cx="1417319" cy="411480"/>
          </a:xfrm>
          <a:prstGeom prst="rect">
            <a:avLst/>
          </a:prstGeom>
          <a:noFill/>
        </p:spPr>
        <p:txBody>
          <a:bodyPr wrap="square" lIns="0" rIns="0" tIns="0" bIns="0" anchor="t">
            <a:spAutoFit/>
          </a:bodyPr>
          <a:lstStyle/>
          <a:p>
            <a:pPr algn="l"/>
            <a:r>
              <a:rPr sz="1800" b="1" i="0">
                <a:solidFill>
                  <a:srgbClr val="FFFFFF"/>
                </a:solidFill>
                <a:latin typeface="Calibri"/>
              </a:rPr>
              <a:t>helm</a:t>
            </a:r>
          </a:p>
        </p:txBody>
      </p:sp>
      <p:sp>
        <p:nvSpPr>
          <p:cNvPr id="15" name="TextBox 14"/>
          <p:cNvSpPr txBox="1"/>
          <p:nvPr/>
        </p:nvSpPr>
        <p:spPr>
          <a:xfrm>
            <a:off x="4754880" y="3474720"/>
            <a:ext cx="1417319" cy="731520"/>
          </a:xfrm>
          <a:prstGeom prst="rect">
            <a:avLst/>
          </a:prstGeom>
          <a:noFill/>
        </p:spPr>
        <p:txBody>
          <a:bodyPr wrap="square" lIns="0" rIns="0" tIns="0" bIns="0" anchor="t">
            <a:spAutoFit/>
          </a:bodyPr>
          <a:lstStyle/>
          <a:p>
            <a:pPr algn="l"/>
            <a:r>
              <a:rPr sz="1500" b="0" i="0">
                <a:solidFill>
                  <a:srgbClr val="C3CFDD"/>
                </a:solidFill>
                <a:latin typeface="Calibri"/>
              </a:rPr>
              <a:t>fills in the blanks</a:t>
            </a:r>
          </a:p>
        </p:txBody>
      </p:sp>
      <p:sp>
        <p:nvSpPr>
          <p:cNvPr id="16" name="Rounded Rectangle 15"/>
          <p:cNvSpPr/>
          <p:nvPr/>
        </p:nvSpPr>
        <p:spPr>
          <a:xfrm>
            <a:off x="7086600" y="2788920"/>
            <a:ext cx="1874519" cy="155448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3017520"/>
            <a:ext cx="1417319" cy="411480"/>
          </a:xfrm>
          <a:prstGeom prst="rect">
            <a:avLst/>
          </a:prstGeom>
          <a:noFill/>
        </p:spPr>
        <p:txBody>
          <a:bodyPr wrap="square" lIns="0" rIns="0" tIns="0" bIns="0" anchor="t">
            <a:spAutoFit/>
          </a:bodyPr>
          <a:lstStyle/>
          <a:p>
            <a:pPr algn="l"/>
            <a:r>
              <a:rPr sz="1800" b="1" i="0">
                <a:solidFill>
                  <a:srgbClr val="1B2433"/>
                </a:solidFill>
                <a:latin typeface="Calibri"/>
              </a:rPr>
              <a:t>Final YAML</a:t>
            </a:r>
          </a:p>
        </p:txBody>
      </p:sp>
      <p:sp>
        <p:nvSpPr>
          <p:cNvPr id="18" name="TextBox 17"/>
          <p:cNvSpPr txBox="1"/>
          <p:nvPr/>
        </p:nvSpPr>
        <p:spPr>
          <a:xfrm>
            <a:off x="7315200" y="3474720"/>
            <a:ext cx="1417319" cy="731520"/>
          </a:xfrm>
          <a:prstGeom prst="rect">
            <a:avLst/>
          </a:prstGeom>
          <a:noFill/>
        </p:spPr>
        <p:txBody>
          <a:bodyPr wrap="square" lIns="0" rIns="0" tIns="0" bIns="0" anchor="t">
            <a:spAutoFit/>
          </a:bodyPr>
          <a:lstStyle/>
          <a:p>
            <a:pPr algn="l"/>
            <a:r>
              <a:rPr sz="1500" b="0" i="0">
                <a:solidFill>
                  <a:srgbClr val="2E6FD8"/>
                </a:solidFill>
                <a:latin typeface="Consolas"/>
              </a:rPr>
              <a:t>replicas: 2</a:t>
            </a:r>
          </a:p>
        </p:txBody>
      </p:sp>
      <p:sp>
        <p:nvSpPr>
          <p:cNvPr id="19" name="Rounded Rectangle 18"/>
          <p:cNvSpPr/>
          <p:nvPr/>
        </p:nvSpPr>
        <p:spPr>
          <a:xfrm>
            <a:off x="9646920" y="2788920"/>
            <a:ext cx="1874519" cy="155448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3017520"/>
            <a:ext cx="1417319" cy="411480"/>
          </a:xfrm>
          <a:prstGeom prst="rect">
            <a:avLst/>
          </a:prstGeom>
          <a:noFill/>
        </p:spPr>
        <p:txBody>
          <a:bodyPr wrap="square" lIns="0" rIns="0" tIns="0" bIns="0" anchor="t">
            <a:spAutoFit/>
          </a:bodyPr>
          <a:lstStyle/>
          <a:p>
            <a:pPr algn="l"/>
            <a:r>
              <a:rPr sz="1800" b="1" i="0">
                <a:solidFill>
                  <a:srgbClr val="1B2433"/>
                </a:solidFill>
                <a:latin typeface="Calibri"/>
              </a:rPr>
              <a:t>Cluster</a:t>
            </a:r>
          </a:p>
        </p:txBody>
      </p:sp>
      <p:sp>
        <p:nvSpPr>
          <p:cNvPr id="21" name="TextBox 20"/>
          <p:cNvSpPr txBox="1"/>
          <p:nvPr/>
        </p:nvSpPr>
        <p:spPr>
          <a:xfrm>
            <a:off x="9875520" y="3474720"/>
            <a:ext cx="1417319" cy="731520"/>
          </a:xfrm>
          <a:prstGeom prst="rect">
            <a:avLst/>
          </a:prstGeom>
          <a:noFill/>
        </p:spPr>
        <p:txBody>
          <a:bodyPr wrap="square" lIns="0" rIns="0" tIns="0" bIns="0" anchor="t">
            <a:spAutoFit/>
          </a:bodyPr>
          <a:lstStyle/>
          <a:p>
            <a:pPr algn="l"/>
            <a:r>
              <a:rPr sz="1500" b="0" i="0">
                <a:solidFill>
                  <a:srgbClr val="4A5568"/>
                </a:solidFill>
                <a:latin typeface="Calibri"/>
              </a:rPr>
              <a:t>2 pods running</a:t>
            </a:r>
          </a:p>
        </p:txBody>
      </p:sp>
      <p:sp>
        <p:nvSpPr>
          <p:cNvPr id="22" name="TextBox 21"/>
          <p:cNvSpPr txBox="1"/>
          <p:nvPr/>
        </p:nvSpPr>
        <p:spPr>
          <a:xfrm>
            <a:off x="548640" y="5577840"/>
            <a:ext cx="11094415" cy="548640"/>
          </a:xfrm>
          <a:prstGeom prst="rect">
            <a:avLst/>
          </a:prstGeom>
          <a:noFill/>
        </p:spPr>
        <p:txBody>
          <a:bodyPr wrap="square" lIns="0" rIns="0" tIns="0" bIns="0" anchor="t">
            <a:spAutoFit/>
          </a:bodyPr>
          <a:lstStyle/>
          <a:p>
            <a:pPr algn="l"/>
            <a:r>
              <a:rPr sz="1800" b="1" i="0">
                <a:solidFill>
                  <a:srgbClr val="4A5568"/>
                </a:solidFill>
                <a:latin typeface="Calibri"/>
              </a:rPr>
              <a:t>Tip: </a:t>
            </a:r>
            <a:r>
              <a:rPr sz="1800" b="0" i="0">
                <a:solidFill>
                  <a:srgbClr val="2E6FD8"/>
                </a:solidFill>
                <a:latin typeface="Consolas"/>
              </a:rPr>
              <a:t>helm template ./myjavaapp</a:t>
            </a:r>
            <a:r>
              <a:rPr sz="1800" b="0" i="0">
                <a:solidFill>
                  <a:srgbClr val="4A5568"/>
                </a:solidFill>
                <a:latin typeface="Calibri"/>
              </a:rPr>
              <a:t> prints the final YAML without installing anything.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BEFORE AND AFTER</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Our mydeploy.yml becomes a template</a:t>
            </a:r>
          </a:p>
        </p:txBody>
      </p:sp>
      <p:sp>
        <p:nvSpPr>
          <p:cNvPr id="4" name="Rounded Rectangle 3"/>
          <p:cNvSpPr/>
          <p:nvPr/>
        </p:nvSpPr>
        <p:spPr>
          <a:xfrm>
            <a:off x="548640" y="1783080"/>
            <a:ext cx="3840480" cy="393192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11680"/>
            <a:ext cx="3291840" cy="320040"/>
          </a:xfrm>
          <a:prstGeom prst="rect">
            <a:avLst/>
          </a:prstGeom>
          <a:noFill/>
        </p:spPr>
        <p:txBody>
          <a:bodyPr wrap="square" lIns="0" rIns="0" tIns="0" bIns="0" anchor="t">
            <a:spAutoFit/>
          </a:bodyPr>
          <a:lstStyle/>
          <a:p>
            <a:pPr algn="l"/>
            <a:r>
              <a:rPr sz="1400" b="1" i="0">
                <a:solidFill>
                  <a:srgbClr val="4A5568"/>
                </a:solidFill>
                <a:latin typeface="Calibri"/>
              </a:rPr>
              <a:t>Before: mydeploy.yml (fixed)</a:t>
            </a:r>
          </a:p>
        </p:txBody>
      </p:sp>
      <p:sp>
        <p:nvSpPr>
          <p:cNvPr id="6" name="TextBox 5"/>
          <p:cNvSpPr txBox="1"/>
          <p:nvPr/>
        </p:nvSpPr>
        <p:spPr>
          <a:xfrm>
            <a:off x="822959" y="2423160"/>
            <a:ext cx="3291840" cy="3108959"/>
          </a:xfrm>
          <a:prstGeom prst="rect">
            <a:avLst/>
          </a:prstGeom>
          <a:noFill/>
        </p:spPr>
        <p:txBody>
          <a:bodyPr wrap="square" lIns="0" rIns="0" tIns="0" bIns="0" anchor="t">
            <a:spAutoFit/>
          </a:bodyPr>
          <a:lstStyle/>
          <a:p>
            <a:pPr algn="l"/>
            <a:r>
              <a:rPr sz="1300" b="0" i="0">
                <a:solidFill>
                  <a:srgbClr val="1B2433"/>
                </a:solidFill>
                <a:latin typeface="Consolas"/>
              </a:rPr>
              <a:t>spec:</a:t>
            </a:r>
          </a:p>
          <a:p>
            <a:pPr algn="l"/>
            <a:r>
              <a:rPr sz="1300" b="0" i="0">
                <a:solidFill>
                  <a:srgbClr val="1B2433"/>
                </a:solidFill>
                <a:latin typeface="Consolas"/>
              </a:rPr>
              <a:t>  replicas: 2</a:t>
            </a:r>
          </a:p>
          <a:p>
            <a:pPr algn="l"/>
            <a:r>
              <a:rPr sz="1300" b="0" i="0">
                <a:solidFill>
                  <a:srgbClr val="1B2433"/>
                </a:solidFill>
                <a:latin typeface="Consolas"/>
              </a:rPr>
              <a:t>  template:</a:t>
            </a:r>
          </a:p>
          <a:p>
            <a:pPr algn="l"/>
            <a:r>
              <a:rPr sz="1300" b="0" i="0">
                <a:solidFill>
                  <a:srgbClr val="1B2433"/>
                </a:solidFill>
                <a:latin typeface="Consolas"/>
              </a:rPr>
              <a:t>    spec:</a:t>
            </a:r>
          </a:p>
          <a:p>
            <a:pPr algn="l"/>
            <a:r>
              <a:rPr sz="1300" b="0" i="0">
                <a:solidFill>
                  <a:srgbClr val="1B2433"/>
                </a:solidFill>
                <a:latin typeface="Consolas"/>
              </a:rPr>
              <a:t>      containers:</a:t>
            </a:r>
          </a:p>
          <a:p>
            <a:pPr algn="l"/>
            <a:r>
              <a:rPr sz="1300" b="0" i="0">
                <a:solidFill>
                  <a:srgbClr val="1B2433"/>
                </a:solidFill>
                <a:latin typeface="Consolas"/>
              </a:rPr>
              <a:t>      - name: myjavaapp-container</a:t>
            </a:r>
          </a:p>
          <a:p>
            <a:pPr algn="l"/>
            <a:r>
              <a:rPr sz="1300" b="0" i="0">
                <a:solidFill>
                  <a:srgbClr val="1B2433"/>
                </a:solidFill>
                <a:latin typeface="Consolas"/>
              </a:rPr>
              <a:t>        image: &lt;ecr&gt;/myjavaapp:2</a:t>
            </a:r>
          </a:p>
          <a:p>
            <a:pPr algn="l"/>
            <a:r>
              <a:rPr sz="1300" b="0" i="0">
                <a:solidFill>
                  <a:srgbClr val="1B2433"/>
                </a:solidFill>
                <a:latin typeface="Consolas"/>
              </a:rPr>
              <a:t>        ports:</a:t>
            </a:r>
          </a:p>
          <a:p>
            <a:pPr algn="l"/>
            <a:r>
              <a:rPr sz="1300" b="0" i="0">
                <a:solidFill>
                  <a:srgbClr val="1B2433"/>
                </a:solidFill>
                <a:latin typeface="Consolas"/>
              </a:rPr>
              <a:t>        - containerPort: 8080</a:t>
            </a:r>
          </a:p>
        </p:txBody>
      </p:sp>
      <p:sp>
        <p:nvSpPr>
          <p:cNvPr id="7" name="Rounded Rectangle 6"/>
          <p:cNvSpPr/>
          <p:nvPr/>
        </p:nvSpPr>
        <p:spPr>
          <a:xfrm>
            <a:off x="4617720" y="1783080"/>
            <a:ext cx="7025335" cy="393192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2011680"/>
            <a:ext cx="6476695" cy="320040"/>
          </a:xfrm>
          <a:prstGeom prst="rect">
            <a:avLst/>
          </a:prstGeom>
          <a:noFill/>
        </p:spPr>
        <p:txBody>
          <a:bodyPr wrap="square" lIns="0" rIns="0" tIns="0" bIns="0" anchor="t">
            <a:spAutoFit/>
          </a:bodyPr>
          <a:lstStyle/>
          <a:p>
            <a:pPr algn="l"/>
            <a:r>
              <a:rPr sz="1400" b="1" i="0">
                <a:solidFill>
                  <a:srgbClr val="F0A35E"/>
                </a:solidFill>
                <a:latin typeface="Calibri"/>
              </a:rPr>
              <a:t>After: templates/deployment.yaml</a:t>
            </a:r>
          </a:p>
        </p:txBody>
      </p:sp>
      <p:sp>
        <p:nvSpPr>
          <p:cNvPr id="9" name="TextBox 8"/>
          <p:cNvSpPr txBox="1"/>
          <p:nvPr/>
        </p:nvSpPr>
        <p:spPr>
          <a:xfrm>
            <a:off x="4892040" y="2423160"/>
            <a:ext cx="6476695" cy="3108959"/>
          </a:xfrm>
          <a:prstGeom prst="rect">
            <a:avLst/>
          </a:prstGeom>
          <a:noFill/>
        </p:spPr>
        <p:txBody>
          <a:bodyPr wrap="square" lIns="0" rIns="0" tIns="0" bIns="0" anchor="t">
            <a:spAutoFit/>
          </a:bodyPr>
          <a:lstStyle/>
          <a:p>
            <a:pPr algn="l"/>
            <a:r>
              <a:rPr sz="1300" b="0" i="0">
                <a:solidFill>
                  <a:srgbClr val="E6EDF5"/>
                </a:solidFill>
                <a:latin typeface="Consolas"/>
              </a:rPr>
              <a:t>spec:</a:t>
            </a:r>
          </a:p>
          <a:p>
            <a:pPr algn="l"/>
            <a:r>
              <a:rPr sz="1300" b="0" i="0">
                <a:solidFill>
                  <a:srgbClr val="E6EDF5"/>
                </a:solidFill>
                <a:latin typeface="Consolas"/>
              </a:rPr>
              <a:t>  replicas: {{ .Values.replicaCount }}</a:t>
            </a:r>
          </a:p>
          <a:p>
            <a:pPr algn="l"/>
            <a:r>
              <a:rPr sz="1300" b="0" i="0">
                <a:solidFill>
                  <a:srgbClr val="E6EDF5"/>
                </a:solidFill>
                <a:latin typeface="Consolas"/>
              </a:rPr>
              <a:t>  template:</a:t>
            </a:r>
          </a:p>
          <a:p>
            <a:pPr algn="l"/>
            <a:r>
              <a:rPr sz="1300" b="0" i="0">
                <a:solidFill>
                  <a:srgbClr val="E6EDF5"/>
                </a:solidFill>
                <a:latin typeface="Consolas"/>
              </a:rPr>
              <a:t>    spec:</a:t>
            </a:r>
          </a:p>
          <a:p>
            <a:pPr algn="l"/>
            <a:r>
              <a:rPr sz="1300" b="0" i="0">
                <a:solidFill>
                  <a:srgbClr val="E6EDF5"/>
                </a:solidFill>
                <a:latin typeface="Consolas"/>
              </a:rPr>
              <a:t>      containers:</a:t>
            </a:r>
          </a:p>
          <a:p>
            <a:pPr algn="l"/>
            <a:r>
              <a:rPr sz="1300" b="0" i="0">
                <a:solidFill>
                  <a:srgbClr val="E6EDF5"/>
                </a:solidFill>
                <a:latin typeface="Consolas"/>
              </a:rPr>
              <a:t>      - name: {{ .Chart.Name }}</a:t>
            </a:r>
          </a:p>
          <a:p>
            <a:pPr algn="l"/>
            <a:r>
              <a:rPr sz="1300" b="0" i="0">
                <a:solidFill>
                  <a:srgbClr val="E6EDF5"/>
                </a:solidFill>
                <a:latin typeface="Consolas"/>
              </a:rPr>
              <a:t>        image: "{{ .Values.image.repository }}:{{ .Values.image.tag }}"</a:t>
            </a:r>
          </a:p>
          <a:p>
            <a:pPr algn="l"/>
            <a:r>
              <a:rPr sz="1300" b="0" i="0">
                <a:solidFill>
                  <a:srgbClr val="E6EDF5"/>
                </a:solidFill>
                <a:latin typeface="Consolas"/>
              </a:rPr>
              <a:t>        ports:</a:t>
            </a:r>
          </a:p>
          <a:p>
            <a:pPr algn="l"/>
            <a:r>
              <a:rPr sz="1300" b="0" i="0">
                <a:solidFill>
                  <a:srgbClr val="E6EDF5"/>
                </a:solidFill>
                <a:latin typeface="Consolas"/>
              </a:rPr>
              <a:t>        - containerPort: {{ .Values.containerPort }}</a:t>
            </a:r>
          </a:p>
        </p:txBody>
      </p:sp>
      <p:sp>
        <p:nvSpPr>
          <p:cNvPr id="10" name="TextBox 9"/>
          <p:cNvSpPr txBox="1"/>
          <p:nvPr/>
        </p:nvSpPr>
        <p:spPr>
          <a:xfrm>
            <a:off x="548640" y="5897880"/>
            <a:ext cx="11094415" cy="457200"/>
          </a:xfrm>
          <a:prstGeom prst="rect">
            <a:avLst/>
          </a:prstGeom>
          <a:noFill/>
        </p:spPr>
        <p:txBody>
          <a:bodyPr wrap="square" lIns="0" rIns="0" tIns="0" bIns="0" anchor="t">
            <a:spAutoFit/>
          </a:bodyPr>
          <a:lstStyle/>
          <a:p>
            <a:pPr algn="l"/>
            <a:r>
              <a:rPr sz="1800" b="0" i="0">
                <a:solidFill>
                  <a:srgbClr val="4A5568"/>
                </a:solidFill>
                <a:latin typeface="Calibri"/>
              </a:rPr>
              <a:t>Same shape, same indentation. Only the values that change become </a:t>
            </a:r>
            <a:r>
              <a:rPr sz="1800" b="0" i="0">
                <a:solidFill>
                  <a:srgbClr val="2E6FD8"/>
                </a:solidFill>
                <a:latin typeface="Consolas"/>
              </a:rPr>
              <a:t>{{ .Values.…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VALUES PER ENVIRONMENT</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One chart, many environments</a:t>
            </a:r>
          </a:p>
        </p:txBody>
      </p:sp>
      <p:graphicFrame>
        <p:nvGraphicFramePr>
          <p:cNvPr id="4" name="Table 3"/>
          <p:cNvGraphicFramePr>
            <a:graphicFrameLocks noGrp="1"/>
          </p:cNvGraphicFramePr>
          <p:nvPr/>
        </p:nvGraphicFramePr>
        <p:xfrm>
          <a:off x="548640" y="1691640"/>
          <a:ext cx="11094415" cy="2743200"/>
        </p:xfrm>
        <a:graphic>
          <a:graphicData uri="http://schemas.openxmlformats.org/drawingml/2006/table">
            <a:tbl>
              <a:tblPr firstRow="1" bandRow="1">
                <a:tableStyleId>{5C22544A-7EE6-4342-B048-85BDC9FD1C3A}</a:tableStyleId>
              </a:tblPr>
              <a:tblGrid>
                <a:gridCol w="2194560"/>
                <a:gridCol w="3474720"/>
                <a:gridCol w="2194560"/>
                <a:gridCol w="3230575"/>
              </a:tblGrid>
              <a:tr h="457200">
                <a:tc>
                  <a:txBody>
                    <a:bodyPr wrap="square"/>
                    <a:lstStyle/>
                    <a:p>
                      <a:r>
                        <a:rPr sz="1500" b="1">
                          <a:solidFill>
                            <a:srgbClr val="FFFFFF"/>
                          </a:solidFill>
                          <a:latin typeface="Calibri"/>
                        </a:rPr>
                        <a:t>Setting</a:t>
                      </a:r>
                    </a:p>
                  </a:txBody>
                  <a:tcPr marL="109728" marR="109728" anchor="ctr">
                    <a:solidFill>
                      <a:srgbClr val="13233A"/>
                    </a:solidFill>
                  </a:tcPr>
                </a:tc>
                <a:tc>
                  <a:txBody>
                    <a:bodyPr wrap="square"/>
                    <a:lstStyle/>
                    <a:p>
                      <a:r>
                        <a:rPr sz="1500" b="1">
                          <a:solidFill>
                            <a:srgbClr val="FFFFFF"/>
                          </a:solidFill>
                          <a:latin typeface="Calibri"/>
                        </a:rPr>
                        <a:t>values.yaml (default)</a:t>
                      </a:r>
                    </a:p>
                  </a:txBody>
                  <a:tcPr marL="109728" marR="109728" anchor="ctr">
                    <a:solidFill>
                      <a:srgbClr val="13233A"/>
                    </a:solidFill>
                  </a:tcPr>
                </a:tc>
                <a:tc>
                  <a:txBody>
                    <a:bodyPr wrap="square"/>
                    <a:lstStyle/>
                    <a:p>
                      <a:r>
                        <a:rPr sz="1500" b="1">
                          <a:solidFill>
                            <a:srgbClr val="FFFFFF"/>
                          </a:solidFill>
                          <a:latin typeface="Calibri"/>
                        </a:rPr>
                        <a:t>values-dev.yaml</a:t>
                      </a:r>
                    </a:p>
                  </a:txBody>
                  <a:tcPr marL="109728" marR="109728" anchor="ctr">
                    <a:solidFill>
                      <a:srgbClr val="13233A"/>
                    </a:solidFill>
                  </a:tcPr>
                </a:tc>
                <a:tc>
                  <a:txBody>
                    <a:bodyPr wrap="square"/>
                    <a:lstStyle/>
                    <a:p>
                      <a:r>
                        <a:rPr sz="1500" b="1">
                          <a:solidFill>
                            <a:srgbClr val="FFFFFF"/>
                          </a:solidFill>
                          <a:latin typeface="Calibri"/>
                        </a:rPr>
                        <a:t>values-prod.yaml</a:t>
                      </a:r>
                    </a:p>
                  </a:txBody>
                  <a:tcPr marL="109728" marR="109728" anchor="ctr">
                    <a:solidFill>
                      <a:srgbClr val="13233A"/>
                    </a:solidFill>
                  </a:tcPr>
                </a:tc>
              </a:tr>
              <a:tr h="457200">
                <a:tc>
                  <a:txBody>
                    <a:bodyPr wrap="square"/>
                    <a:lstStyle/>
                    <a:p>
                      <a:r>
                        <a:rPr sz="1500" b="0">
                          <a:solidFill>
                            <a:srgbClr val="1B2433"/>
                          </a:solidFill>
                          <a:latin typeface="Calibri"/>
                        </a:rPr>
                        <a:t>replicaCount</a:t>
                      </a:r>
                    </a:p>
                  </a:txBody>
                  <a:tcPr marL="109728" marR="109728" anchor="ctr">
                    <a:solidFill>
                      <a:srgbClr val="FFFFFF"/>
                    </a:solidFill>
                  </a:tcPr>
                </a:tc>
                <a:tc>
                  <a:txBody>
                    <a:bodyPr wrap="square"/>
                    <a:lstStyle/>
                    <a:p>
                      <a:r>
                        <a:rPr sz="1500" b="0">
                          <a:solidFill>
                            <a:srgbClr val="1B2433"/>
                          </a:solidFill>
                          <a:latin typeface="Calibri"/>
                        </a:rPr>
                        <a:t>2</a:t>
                      </a:r>
                    </a:p>
                  </a:txBody>
                  <a:tcPr marL="109728" marR="109728" anchor="ctr">
                    <a:solidFill>
                      <a:srgbClr val="FFFFFF"/>
                    </a:solidFill>
                  </a:tcPr>
                </a:tc>
                <a:tc>
                  <a:txBody>
                    <a:bodyPr wrap="square"/>
                    <a:lstStyle/>
                    <a:p>
                      <a:r>
                        <a:rPr sz="1500" b="0">
                          <a:solidFill>
                            <a:srgbClr val="1B2433"/>
                          </a:solidFill>
                          <a:latin typeface="Calibri"/>
                        </a:rPr>
                        <a:t>1</a:t>
                      </a:r>
                    </a:p>
                  </a:txBody>
                  <a:tcPr marL="109728" marR="109728" anchor="ctr">
                    <a:solidFill>
                      <a:srgbClr val="FFFFFF"/>
                    </a:solidFill>
                  </a:tcPr>
                </a:tc>
                <a:tc>
                  <a:txBody>
                    <a:bodyPr wrap="square"/>
                    <a:lstStyle/>
                    <a:p>
                      <a:r>
                        <a:rPr sz="1500" b="0">
                          <a:solidFill>
                            <a:srgbClr val="1B2433"/>
                          </a:solidFill>
                          <a:latin typeface="Calibri"/>
                        </a:rPr>
                        <a:t>3</a:t>
                      </a:r>
                    </a:p>
                  </a:txBody>
                  <a:tcPr marL="109728" marR="109728" anchor="ctr">
                    <a:solidFill>
                      <a:srgbClr val="FFFFFF"/>
                    </a:solidFill>
                  </a:tcPr>
                </a:tc>
              </a:tr>
              <a:tr h="457200">
                <a:tc>
                  <a:txBody>
                    <a:bodyPr wrap="square"/>
                    <a:lstStyle/>
                    <a:p>
                      <a:r>
                        <a:rPr sz="1500" b="0">
                          <a:solidFill>
                            <a:srgbClr val="1B2433"/>
                          </a:solidFill>
                          <a:latin typeface="Calibri"/>
                        </a:rPr>
                        <a:t>image</a:t>
                      </a:r>
                    </a:p>
                  </a:txBody>
                  <a:tcPr marL="109728" marR="109728" anchor="ctr">
                    <a:solidFill>
                      <a:srgbClr val="E6EBF2"/>
                    </a:solidFill>
                  </a:tcPr>
                </a:tc>
                <a:tc>
                  <a:txBody>
                    <a:bodyPr wrap="square"/>
                    <a:lstStyle/>
                    <a:p>
                      <a:r>
                        <a:rPr sz="1500" b="0">
                          <a:solidFill>
                            <a:srgbClr val="1B2433"/>
                          </a:solidFill>
                          <a:latin typeface="Calibri"/>
                        </a:rPr>
                        <a:t>maha4iac/myonlinebooking:2</a:t>
                      </a:r>
                    </a:p>
                  </a:txBody>
                  <a:tcPr marL="109728" marR="109728" anchor="ctr">
                    <a:solidFill>
                      <a:srgbClr val="E6EBF2"/>
                    </a:solidFill>
                  </a:tcPr>
                </a:tc>
                <a:tc>
                  <a:txBody>
                    <a:bodyPr wrap="square"/>
                    <a:lstStyle/>
                    <a:p>
                      <a:r>
                        <a:rPr sz="1500" b="0">
                          <a:solidFill>
                            <a:srgbClr val="1B2433"/>
                          </a:solidFill>
                          <a:latin typeface="Calibri"/>
                        </a:rPr>
                        <a:t>(default)</a:t>
                      </a:r>
                    </a:p>
                  </a:txBody>
                  <a:tcPr marL="109728" marR="109728" anchor="ctr">
                    <a:solidFill>
                      <a:srgbClr val="E6EBF2"/>
                    </a:solidFill>
                  </a:tcPr>
                </a:tc>
                <a:tc>
                  <a:txBody>
                    <a:bodyPr wrap="square"/>
                    <a:lstStyle/>
                    <a:p>
                      <a:r>
                        <a:rPr sz="1500" b="0">
                          <a:solidFill>
                            <a:srgbClr val="1B2433"/>
                          </a:solidFill>
                          <a:latin typeface="Calibri"/>
                        </a:rPr>
                        <a:t>&lt;ecr&gt;/myjavaapp:2</a:t>
                      </a:r>
                    </a:p>
                  </a:txBody>
                  <a:tcPr marL="109728" marR="109728" anchor="ctr">
                    <a:solidFill>
                      <a:srgbClr val="E6EBF2"/>
                    </a:solidFill>
                  </a:tcPr>
                </a:tc>
              </a:tr>
              <a:tr h="457200">
                <a:tc>
                  <a:txBody>
                    <a:bodyPr wrap="square"/>
                    <a:lstStyle/>
                    <a:p>
                      <a:r>
                        <a:rPr sz="1500" b="0">
                          <a:solidFill>
                            <a:srgbClr val="1B2433"/>
                          </a:solidFill>
                          <a:latin typeface="Calibri"/>
                        </a:rPr>
                        <a:t>service.type</a:t>
                      </a:r>
                    </a:p>
                  </a:txBody>
                  <a:tcPr marL="109728" marR="109728" anchor="ctr">
                    <a:solidFill>
                      <a:srgbClr val="FFFFFF"/>
                    </a:solidFill>
                  </a:tcPr>
                </a:tc>
                <a:tc>
                  <a:txBody>
                    <a:bodyPr wrap="square"/>
                    <a:lstStyle/>
                    <a:p>
                      <a:r>
                        <a:rPr sz="1500" b="0">
                          <a:solidFill>
                            <a:srgbClr val="1B2433"/>
                          </a:solidFill>
                          <a:latin typeface="Calibri"/>
                        </a:rPr>
                        <a:t>NodePort</a:t>
                      </a:r>
                    </a:p>
                  </a:txBody>
                  <a:tcPr marL="109728" marR="109728" anchor="ctr">
                    <a:solidFill>
                      <a:srgbClr val="FFFFFF"/>
                    </a:solidFill>
                  </a:tcPr>
                </a:tc>
                <a:tc>
                  <a:txBody>
                    <a:bodyPr wrap="square"/>
                    <a:lstStyle/>
                    <a:p>
                      <a:r>
                        <a:rPr sz="1500" b="0">
                          <a:solidFill>
                            <a:srgbClr val="1B2433"/>
                          </a:solidFill>
                          <a:latin typeface="Calibri"/>
                        </a:rPr>
                        <a:t>NodePort</a:t>
                      </a:r>
                    </a:p>
                  </a:txBody>
                  <a:tcPr marL="109728" marR="109728" anchor="ctr">
                    <a:solidFill>
                      <a:srgbClr val="FFFFFF"/>
                    </a:solidFill>
                  </a:tcPr>
                </a:tc>
                <a:tc>
                  <a:txBody>
                    <a:bodyPr wrap="square"/>
                    <a:lstStyle/>
                    <a:p>
                      <a:r>
                        <a:rPr sz="1500" b="0">
                          <a:solidFill>
                            <a:srgbClr val="1B2433"/>
                          </a:solidFill>
                          <a:latin typeface="Calibri"/>
                        </a:rPr>
                        <a:t>LoadBalancer</a:t>
                      </a:r>
                    </a:p>
                  </a:txBody>
                  <a:tcPr marL="109728" marR="109728" anchor="ctr">
                    <a:solidFill>
                      <a:srgbClr val="FFFFFF"/>
                    </a:solidFill>
                  </a:tcPr>
                </a:tc>
              </a:tr>
              <a:tr h="457200">
                <a:tc>
                  <a:txBody>
                    <a:bodyPr wrap="square"/>
                    <a:lstStyle/>
                    <a:p>
                      <a:r>
                        <a:rPr sz="1500" b="0">
                          <a:solidFill>
                            <a:srgbClr val="1B2433"/>
                          </a:solidFill>
                          <a:latin typeface="Calibri"/>
                        </a:rPr>
                        <a:t>nodePort</a:t>
                      </a:r>
                    </a:p>
                  </a:txBody>
                  <a:tcPr marL="109728" marR="109728" anchor="ctr">
                    <a:solidFill>
                      <a:srgbClr val="E6EBF2"/>
                    </a:solidFill>
                  </a:tcPr>
                </a:tc>
                <a:tc>
                  <a:txBody>
                    <a:bodyPr wrap="square"/>
                    <a:lstStyle/>
                    <a:p>
                      <a:r>
                        <a:rPr sz="1500" b="0">
                          <a:solidFill>
                            <a:srgbClr val="1B2433"/>
                          </a:solidFill>
                          <a:latin typeface="Calibri"/>
                        </a:rPr>
                        <a:t>30002</a:t>
                      </a:r>
                    </a:p>
                  </a:txBody>
                  <a:tcPr marL="109728" marR="109728" anchor="ctr">
                    <a:solidFill>
                      <a:srgbClr val="E6EBF2"/>
                    </a:solidFill>
                  </a:tcPr>
                </a:tc>
                <a:tc>
                  <a:txBody>
                    <a:bodyPr wrap="square"/>
                    <a:lstStyle/>
                    <a:p>
                      <a:r>
                        <a:rPr sz="1500" b="0">
                          <a:solidFill>
                            <a:srgbClr val="1B2433"/>
                          </a:solidFill>
                          <a:latin typeface="Calibri"/>
                        </a:rPr>
                        <a:t>30002</a:t>
                      </a:r>
                    </a:p>
                  </a:txBody>
                  <a:tcPr marL="109728" marR="109728" anchor="ctr">
                    <a:solidFill>
                      <a:srgbClr val="E6EBF2"/>
                    </a:solidFill>
                  </a:tcPr>
                </a:tc>
                <a:tc>
                  <a:txBody>
                    <a:bodyPr wrap="square"/>
                    <a:lstStyle/>
                    <a:p>
                      <a:r>
                        <a:rPr sz="1500" b="0">
                          <a:solidFill>
                            <a:srgbClr val="1B2433"/>
                          </a:solidFill>
                          <a:latin typeface="Calibri"/>
                        </a:rPr>
                        <a:t>none (AWS gives a URL)</a:t>
                      </a:r>
                    </a:p>
                  </a:txBody>
                  <a:tcPr marL="109728" marR="109728" anchor="ctr">
                    <a:solidFill>
                      <a:srgbClr val="E6EBF2"/>
                    </a:solidFill>
                  </a:tcPr>
                </a:tc>
              </a:tr>
              <a:tr h="457200">
                <a:tc>
                  <a:txBody>
                    <a:bodyPr wrap="square"/>
                    <a:lstStyle/>
                    <a:p>
                      <a:r>
                        <a:rPr sz="1500" b="0">
                          <a:solidFill>
                            <a:srgbClr val="1B2433"/>
                          </a:solidFill>
                          <a:latin typeface="Calibri"/>
                        </a:rPr>
                        <a:t>pull secret</a:t>
                      </a:r>
                    </a:p>
                  </a:txBody>
                  <a:tcPr marL="109728" marR="109728" anchor="ctr">
                    <a:solidFill>
                      <a:srgbClr val="FFFFFF"/>
                    </a:solidFill>
                  </a:tcPr>
                </a:tc>
                <a:tc>
                  <a:txBody>
                    <a:bodyPr wrap="square"/>
                    <a:lstStyle/>
                    <a:p>
                      <a:r>
                        <a:rPr sz="1500" b="0">
                          <a:solidFill>
                            <a:srgbClr val="1B2433"/>
                          </a:solidFill>
                          <a:latin typeface="Calibri"/>
                        </a:rPr>
                        <a:t>none</a:t>
                      </a:r>
                    </a:p>
                  </a:txBody>
                  <a:tcPr marL="109728" marR="109728" anchor="ctr">
                    <a:solidFill>
                      <a:srgbClr val="FFFFFF"/>
                    </a:solidFill>
                  </a:tcPr>
                </a:tc>
                <a:tc>
                  <a:txBody>
                    <a:bodyPr wrap="square"/>
                    <a:lstStyle/>
                    <a:p>
                      <a:r>
                        <a:rPr sz="1500" b="0">
                          <a:solidFill>
                            <a:srgbClr val="1B2433"/>
                          </a:solidFill>
                          <a:latin typeface="Calibri"/>
                        </a:rPr>
                        <a:t>none</a:t>
                      </a:r>
                    </a:p>
                  </a:txBody>
                  <a:tcPr marL="109728" marR="109728" anchor="ctr">
                    <a:solidFill>
                      <a:srgbClr val="FFFFFF"/>
                    </a:solidFill>
                  </a:tcPr>
                </a:tc>
                <a:tc>
                  <a:txBody>
                    <a:bodyPr wrap="square"/>
                    <a:lstStyle/>
                    <a:p>
                      <a:r>
                        <a:rPr sz="1500" b="0">
                          <a:solidFill>
                            <a:srgbClr val="1B2433"/>
                          </a:solidFill>
                          <a:latin typeface="Calibri"/>
                        </a:rPr>
                        <a:t>ecr-secret</a:t>
                      </a:r>
                    </a:p>
                  </a:txBody>
                  <a:tcPr marL="109728" marR="109728" anchor="ctr">
                    <a:solidFill>
                      <a:srgbClr val="FFFFFF"/>
                    </a:solidFill>
                  </a:tcPr>
                </a:tc>
              </a:tr>
            </a:tbl>
          </a:graphicData>
        </a:graphic>
      </p:graphicFrame>
      <p:sp>
        <p:nvSpPr>
          <p:cNvPr id="5" name="Rounded Rectangle 4"/>
          <p:cNvSpPr/>
          <p:nvPr/>
        </p:nvSpPr>
        <p:spPr>
          <a:xfrm>
            <a:off x="548640" y="4572000"/>
            <a:ext cx="11094415" cy="105156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4800600"/>
            <a:ext cx="10545775" cy="640080"/>
          </a:xfrm>
          <a:prstGeom prst="rect">
            <a:avLst/>
          </a:prstGeom>
          <a:noFill/>
        </p:spPr>
        <p:txBody>
          <a:bodyPr wrap="square" lIns="0" rIns="0" tIns="0" bIns="0" anchor="t">
            <a:spAutoFit/>
          </a:bodyPr>
          <a:lstStyle/>
          <a:p>
            <a:pPr algn="l"/>
            <a:r>
              <a:rPr sz="1300" b="0" i="0">
                <a:solidFill>
                  <a:srgbClr val="E6EDF5"/>
                </a:solidFill>
                <a:latin typeface="Consolas"/>
              </a:rPr>
              <a:t>helm install booking-dev  ./myjavaapp -f myjavaapp/values-dev.yaml  -n dev --create-namespace</a:t>
            </a:r>
          </a:p>
          <a:p>
            <a:pPr algn="l"/>
            <a:r>
              <a:rPr sz="1300" b="0" i="0">
                <a:solidFill>
                  <a:srgbClr val="E6EDF5"/>
                </a:solidFill>
                <a:latin typeface="Consolas"/>
              </a:rPr>
              <a:t>helm install booking-prod ./myjavaapp -f myjavaapp/values-prod.yaml -n production --create-namespace</a:t>
            </a:r>
          </a:p>
        </p:txBody>
      </p:sp>
      <p:sp>
        <p:nvSpPr>
          <p:cNvPr id="7" name="TextBox 6"/>
          <p:cNvSpPr txBox="1"/>
          <p:nvPr/>
        </p:nvSpPr>
        <p:spPr>
          <a:xfrm>
            <a:off x="548640" y="5852160"/>
            <a:ext cx="11094415" cy="457200"/>
          </a:xfrm>
          <a:prstGeom prst="rect">
            <a:avLst/>
          </a:prstGeom>
          <a:noFill/>
        </p:spPr>
        <p:txBody>
          <a:bodyPr wrap="square" lIns="0" rIns="0" tIns="0" bIns="0" anchor="t">
            <a:spAutoFit/>
          </a:bodyPr>
          <a:lstStyle/>
          <a:p>
            <a:pPr algn="l"/>
            <a:r>
              <a:rPr sz="1800" b="1" i="0">
                <a:solidFill>
                  <a:srgbClr val="4A5568"/>
                </a:solidFill>
                <a:latin typeface="Calibri"/>
              </a:rPr>
              <a:t>Last one wins: </a:t>
            </a:r>
            <a:r>
              <a:rPr sz="1800" b="0" i="0">
                <a:solidFill>
                  <a:srgbClr val="2E6FD8"/>
                </a:solidFill>
                <a:latin typeface="Consolas"/>
              </a:rPr>
              <a:t>values.yaml  →  -f file  →  --set key=value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6EBF2"/>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HOW TO USE HELM · STEP 1</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Install Helm and check it works</a:t>
            </a:r>
          </a:p>
        </p:txBody>
      </p:sp>
      <p:sp>
        <p:nvSpPr>
          <p:cNvPr id="4" name="Rounded Rectangle 3"/>
          <p:cNvSpPr/>
          <p:nvPr/>
        </p:nvSpPr>
        <p:spPr>
          <a:xfrm>
            <a:off x="548640" y="1783080"/>
            <a:ext cx="11094415" cy="7315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2377440" cy="731520"/>
          </a:xfrm>
          <a:prstGeom prst="rect">
            <a:avLst/>
          </a:prstGeom>
          <a:noFill/>
        </p:spPr>
        <p:txBody>
          <a:bodyPr wrap="square" lIns="0" rIns="0" tIns="0" bIns="0" anchor="ctr">
            <a:spAutoFit/>
          </a:bodyPr>
          <a:lstStyle/>
          <a:p>
            <a:pPr algn="l"/>
            <a:r>
              <a:rPr sz="1700" b="1" i="0">
                <a:solidFill>
                  <a:srgbClr val="1B2433"/>
                </a:solidFill>
                <a:latin typeface="Calibri"/>
              </a:rPr>
              <a:t>Windows</a:t>
            </a:r>
          </a:p>
        </p:txBody>
      </p:sp>
      <p:sp>
        <p:nvSpPr>
          <p:cNvPr id="6" name="TextBox 5"/>
          <p:cNvSpPr txBox="1"/>
          <p:nvPr/>
        </p:nvSpPr>
        <p:spPr>
          <a:xfrm>
            <a:off x="3291840" y="1783080"/>
            <a:ext cx="6400800" cy="731520"/>
          </a:xfrm>
          <a:prstGeom prst="rect">
            <a:avLst/>
          </a:prstGeom>
          <a:noFill/>
        </p:spPr>
        <p:txBody>
          <a:bodyPr wrap="square" lIns="0" rIns="0" tIns="0" bIns="0" anchor="ctr">
            <a:spAutoFit/>
          </a:bodyPr>
          <a:lstStyle/>
          <a:p>
            <a:pPr algn="l"/>
            <a:r>
              <a:rPr sz="1300" b="0" i="0">
                <a:solidFill>
                  <a:srgbClr val="2E6FD8"/>
                </a:solidFill>
                <a:latin typeface="Consolas"/>
              </a:rPr>
              <a:t>choco install kubernetes-helm</a:t>
            </a:r>
          </a:p>
        </p:txBody>
      </p:sp>
      <p:sp>
        <p:nvSpPr>
          <p:cNvPr id="7" name="TextBox 6"/>
          <p:cNvSpPr txBox="1"/>
          <p:nvPr/>
        </p:nvSpPr>
        <p:spPr>
          <a:xfrm>
            <a:off x="9875519" y="1783080"/>
            <a:ext cx="1645920" cy="731520"/>
          </a:xfrm>
          <a:prstGeom prst="rect">
            <a:avLst/>
          </a:prstGeom>
          <a:noFill/>
        </p:spPr>
        <p:txBody>
          <a:bodyPr wrap="square" lIns="0" rIns="0" tIns="0" bIns="0" anchor="ctr">
            <a:spAutoFit/>
          </a:bodyPr>
          <a:lstStyle/>
          <a:p>
            <a:pPr algn="l"/>
            <a:r>
              <a:rPr sz="1300" b="0" i="0">
                <a:solidFill>
                  <a:srgbClr val="4A5568"/>
                </a:solidFill>
                <a:latin typeface="Calibri"/>
              </a:rPr>
              <a:t>Admin PowerShell</a:t>
            </a:r>
          </a:p>
        </p:txBody>
      </p:sp>
      <p:sp>
        <p:nvSpPr>
          <p:cNvPr id="8" name="Rounded Rectangle 7"/>
          <p:cNvSpPr/>
          <p:nvPr/>
        </p:nvSpPr>
        <p:spPr>
          <a:xfrm>
            <a:off x="548640" y="2651760"/>
            <a:ext cx="11094415" cy="7315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651760"/>
            <a:ext cx="2377440" cy="731520"/>
          </a:xfrm>
          <a:prstGeom prst="rect">
            <a:avLst/>
          </a:prstGeom>
          <a:noFill/>
        </p:spPr>
        <p:txBody>
          <a:bodyPr wrap="square" lIns="0" rIns="0" tIns="0" bIns="0" anchor="ctr">
            <a:spAutoFit/>
          </a:bodyPr>
          <a:lstStyle/>
          <a:p>
            <a:pPr algn="l"/>
            <a:r>
              <a:rPr sz="1700" b="1" i="0">
                <a:solidFill>
                  <a:srgbClr val="1B2433"/>
                </a:solidFill>
                <a:latin typeface="Calibri"/>
              </a:rPr>
              <a:t>Windows (no admin)</a:t>
            </a:r>
          </a:p>
        </p:txBody>
      </p:sp>
      <p:sp>
        <p:nvSpPr>
          <p:cNvPr id="10" name="TextBox 9"/>
          <p:cNvSpPr txBox="1"/>
          <p:nvPr/>
        </p:nvSpPr>
        <p:spPr>
          <a:xfrm>
            <a:off x="3291840" y="2651760"/>
            <a:ext cx="6400800" cy="731520"/>
          </a:xfrm>
          <a:prstGeom prst="rect">
            <a:avLst/>
          </a:prstGeom>
          <a:noFill/>
        </p:spPr>
        <p:txBody>
          <a:bodyPr wrap="square" lIns="0" rIns="0" tIns="0" bIns="0" anchor="ctr">
            <a:spAutoFit/>
          </a:bodyPr>
          <a:lstStyle/>
          <a:p>
            <a:pPr algn="l"/>
            <a:r>
              <a:rPr sz="1300" b="0" i="0">
                <a:solidFill>
                  <a:srgbClr val="2E6FD8"/>
                </a:solidFill>
                <a:latin typeface="Consolas"/>
              </a:rPr>
              <a:t>winget install --id Helm.Helm -e --scope user</a:t>
            </a:r>
          </a:p>
        </p:txBody>
      </p:sp>
      <p:sp>
        <p:nvSpPr>
          <p:cNvPr id="11" name="TextBox 10"/>
          <p:cNvSpPr txBox="1"/>
          <p:nvPr/>
        </p:nvSpPr>
        <p:spPr>
          <a:xfrm>
            <a:off x="9875519" y="2651760"/>
            <a:ext cx="1645920" cy="731520"/>
          </a:xfrm>
          <a:prstGeom prst="rect">
            <a:avLst/>
          </a:prstGeom>
          <a:noFill/>
        </p:spPr>
        <p:txBody>
          <a:bodyPr wrap="square" lIns="0" rIns="0" tIns="0" bIns="0" anchor="ctr">
            <a:spAutoFit/>
          </a:bodyPr>
          <a:lstStyle/>
          <a:p>
            <a:pPr algn="l"/>
            <a:r>
              <a:rPr sz="1300" b="0" i="0">
                <a:solidFill>
                  <a:srgbClr val="4A5568"/>
                </a:solidFill>
                <a:latin typeface="Calibri"/>
              </a:rPr>
              <a:t>Then open a new terminal</a:t>
            </a:r>
          </a:p>
        </p:txBody>
      </p:sp>
      <p:sp>
        <p:nvSpPr>
          <p:cNvPr id="12" name="Rounded Rectangle 11"/>
          <p:cNvSpPr/>
          <p:nvPr/>
        </p:nvSpPr>
        <p:spPr>
          <a:xfrm>
            <a:off x="548640" y="3520439"/>
            <a:ext cx="11094415" cy="7315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3520439"/>
            <a:ext cx="2377440" cy="731520"/>
          </a:xfrm>
          <a:prstGeom prst="rect">
            <a:avLst/>
          </a:prstGeom>
          <a:noFill/>
        </p:spPr>
        <p:txBody>
          <a:bodyPr wrap="square" lIns="0" rIns="0" tIns="0" bIns="0" anchor="ctr">
            <a:spAutoFit/>
          </a:bodyPr>
          <a:lstStyle/>
          <a:p>
            <a:pPr algn="l"/>
            <a:r>
              <a:rPr sz="1700" b="1" i="0">
                <a:solidFill>
                  <a:srgbClr val="1B2433"/>
                </a:solidFill>
                <a:latin typeface="Calibri"/>
              </a:rPr>
              <a:t>Linux / EC2</a:t>
            </a:r>
          </a:p>
        </p:txBody>
      </p:sp>
      <p:sp>
        <p:nvSpPr>
          <p:cNvPr id="14" name="TextBox 13"/>
          <p:cNvSpPr txBox="1"/>
          <p:nvPr/>
        </p:nvSpPr>
        <p:spPr>
          <a:xfrm>
            <a:off x="3291840" y="3520439"/>
            <a:ext cx="8046720" cy="731520"/>
          </a:xfrm>
          <a:prstGeom prst="rect">
            <a:avLst/>
          </a:prstGeom>
          <a:noFill/>
        </p:spPr>
        <p:txBody>
          <a:bodyPr wrap="square" lIns="0" rIns="0" tIns="0" bIns="0" anchor="ctr">
            <a:spAutoFit/>
          </a:bodyPr>
          <a:lstStyle/>
          <a:p>
            <a:pPr algn="l"/>
            <a:r>
              <a:rPr sz="1300" b="0" i="0">
                <a:solidFill>
                  <a:srgbClr val="2E6FD8"/>
                </a:solidFill>
                <a:latin typeface="Consolas"/>
              </a:rPr>
              <a:t>curl -fsSL https://raw.githubusercontent.com/helm/helm/main/scripts/get-helm-3 | bash</a:t>
            </a:r>
          </a:p>
        </p:txBody>
      </p:sp>
      <p:sp>
        <p:nvSpPr>
          <p:cNvPr id="15" name="Rounded Rectangle 14"/>
          <p:cNvSpPr/>
          <p:nvPr/>
        </p:nvSpPr>
        <p:spPr>
          <a:xfrm>
            <a:off x="548640" y="4389120"/>
            <a:ext cx="11094415" cy="7315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389120"/>
            <a:ext cx="2377440" cy="731520"/>
          </a:xfrm>
          <a:prstGeom prst="rect">
            <a:avLst/>
          </a:prstGeom>
          <a:noFill/>
        </p:spPr>
        <p:txBody>
          <a:bodyPr wrap="square" lIns="0" rIns="0" tIns="0" bIns="0" anchor="ctr">
            <a:spAutoFit/>
          </a:bodyPr>
          <a:lstStyle/>
          <a:p>
            <a:pPr algn="l"/>
            <a:r>
              <a:rPr sz="1700" b="1" i="0">
                <a:solidFill>
                  <a:srgbClr val="1B2433"/>
                </a:solidFill>
                <a:latin typeface="Calibri"/>
              </a:rPr>
              <a:t>Mac</a:t>
            </a:r>
          </a:p>
        </p:txBody>
      </p:sp>
      <p:sp>
        <p:nvSpPr>
          <p:cNvPr id="17" name="TextBox 16"/>
          <p:cNvSpPr txBox="1"/>
          <p:nvPr/>
        </p:nvSpPr>
        <p:spPr>
          <a:xfrm>
            <a:off x="3291840" y="4389120"/>
            <a:ext cx="8046720" cy="731520"/>
          </a:xfrm>
          <a:prstGeom prst="rect">
            <a:avLst/>
          </a:prstGeom>
          <a:noFill/>
        </p:spPr>
        <p:txBody>
          <a:bodyPr wrap="square" lIns="0" rIns="0" tIns="0" bIns="0" anchor="ctr">
            <a:spAutoFit/>
          </a:bodyPr>
          <a:lstStyle/>
          <a:p>
            <a:pPr algn="l"/>
            <a:r>
              <a:rPr sz="1300" b="0" i="0">
                <a:solidFill>
                  <a:srgbClr val="2E6FD8"/>
                </a:solidFill>
                <a:latin typeface="Consolas"/>
              </a:rPr>
              <a:t>brew install helm</a:t>
            </a:r>
          </a:p>
        </p:txBody>
      </p:sp>
      <p:sp>
        <p:nvSpPr>
          <p:cNvPr id="18" name="Rounded Rectangle 17"/>
          <p:cNvSpPr/>
          <p:nvPr/>
        </p:nvSpPr>
        <p:spPr>
          <a:xfrm>
            <a:off x="548640" y="5349240"/>
            <a:ext cx="11094415" cy="86868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5577840"/>
            <a:ext cx="10545775" cy="457199"/>
          </a:xfrm>
          <a:prstGeom prst="rect">
            <a:avLst/>
          </a:prstGeom>
          <a:noFill/>
        </p:spPr>
        <p:txBody>
          <a:bodyPr wrap="square" lIns="0" rIns="0" tIns="0" bIns="0" anchor="t">
            <a:spAutoFit/>
          </a:bodyPr>
          <a:lstStyle/>
          <a:p>
            <a:pPr algn="l"/>
            <a:r>
              <a:rPr sz="1500" b="0" i="0">
                <a:solidFill>
                  <a:srgbClr val="E6EDF5"/>
                </a:solidFill>
                <a:latin typeface="Consolas"/>
              </a:rPr>
              <a:t>helm version      # version.BuildInfo{Version:"v3.x" or "v4.x"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HOW TO USE HELM · STEP 2</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Use a ready-made chart from a repository</a:t>
            </a:r>
          </a:p>
        </p:txBody>
      </p:sp>
      <p:sp>
        <p:nvSpPr>
          <p:cNvPr id="4" name="Oval 3"/>
          <p:cNvSpPr/>
          <p:nvPr/>
        </p:nvSpPr>
        <p:spPr>
          <a:xfrm>
            <a:off x="548640" y="1810512"/>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280160" y="1737360"/>
            <a:ext cx="2926080" cy="640080"/>
          </a:xfrm>
          <a:prstGeom prst="rect">
            <a:avLst/>
          </a:prstGeom>
          <a:noFill/>
        </p:spPr>
        <p:txBody>
          <a:bodyPr wrap="square" lIns="0" rIns="0" tIns="0" bIns="0" anchor="ctr">
            <a:spAutoFit/>
          </a:bodyPr>
          <a:lstStyle/>
          <a:p>
            <a:pPr algn="l"/>
            <a:r>
              <a:rPr sz="1800" b="1" i="0">
                <a:solidFill>
                  <a:srgbClr val="1B2433"/>
                </a:solidFill>
                <a:latin typeface="Calibri"/>
              </a:rPr>
              <a:t>Add the repo</a:t>
            </a:r>
          </a:p>
        </p:txBody>
      </p:sp>
      <p:sp>
        <p:nvSpPr>
          <p:cNvPr id="6" name="Rounded Rectangle 5"/>
          <p:cNvSpPr/>
          <p:nvPr/>
        </p:nvSpPr>
        <p:spPr>
          <a:xfrm>
            <a:off x="4206240" y="1764792"/>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764792"/>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repo add bitnami https://charts.bitnami.com/bitnami</a:t>
            </a:r>
          </a:p>
        </p:txBody>
      </p:sp>
      <p:sp>
        <p:nvSpPr>
          <p:cNvPr id="8" name="Oval 7"/>
          <p:cNvSpPr/>
          <p:nvPr/>
        </p:nvSpPr>
        <p:spPr>
          <a:xfrm>
            <a:off x="548640" y="2560320"/>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280160" y="2487168"/>
            <a:ext cx="2926080" cy="640080"/>
          </a:xfrm>
          <a:prstGeom prst="rect">
            <a:avLst/>
          </a:prstGeom>
          <a:noFill/>
        </p:spPr>
        <p:txBody>
          <a:bodyPr wrap="square" lIns="0" rIns="0" tIns="0" bIns="0" anchor="ctr">
            <a:spAutoFit/>
          </a:bodyPr>
          <a:lstStyle/>
          <a:p>
            <a:pPr algn="l"/>
            <a:r>
              <a:rPr sz="1800" b="1" i="0">
                <a:solidFill>
                  <a:srgbClr val="1B2433"/>
                </a:solidFill>
                <a:latin typeface="Calibri"/>
              </a:rPr>
              <a:t>Refresh the list</a:t>
            </a:r>
          </a:p>
        </p:txBody>
      </p:sp>
      <p:sp>
        <p:nvSpPr>
          <p:cNvPr id="10" name="Rounded Rectangle 9"/>
          <p:cNvSpPr/>
          <p:nvPr/>
        </p:nvSpPr>
        <p:spPr>
          <a:xfrm>
            <a:off x="4206240" y="2514599"/>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514599"/>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repo update</a:t>
            </a:r>
          </a:p>
        </p:txBody>
      </p:sp>
      <p:sp>
        <p:nvSpPr>
          <p:cNvPr id="12" name="Oval 11"/>
          <p:cNvSpPr/>
          <p:nvPr/>
        </p:nvSpPr>
        <p:spPr>
          <a:xfrm>
            <a:off x="548640" y="3310128"/>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3" name="TextBox 12"/>
          <p:cNvSpPr txBox="1"/>
          <p:nvPr/>
        </p:nvSpPr>
        <p:spPr>
          <a:xfrm>
            <a:off x="1280160" y="3236976"/>
            <a:ext cx="2926080" cy="640080"/>
          </a:xfrm>
          <a:prstGeom prst="rect">
            <a:avLst/>
          </a:prstGeom>
          <a:noFill/>
        </p:spPr>
        <p:txBody>
          <a:bodyPr wrap="square" lIns="0" rIns="0" tIns="0" bIns="0" anchor="ctr">
            <a:spAutoFit/>
          </a:bodyPr>
          <a:lstStyle/>
          <a:p>
            <a:pPr algn="l"/>
            <a:r>
              <a:rPr sz="1800" b="1" i="0">
                <a:solidFill>
                  <a:srgbClr val="1B2433"/>
                </a:solidFill>
                <a:latin typeface="Calibri"/>
              </a:rPr>
              <a:t>Search for a chart</a:t>
            </a:r>
          </a:p>
        </p:txBody>
      </p:sp>
      <p:sp>
        <p:nvSpPr>
          <p:cNvPr id="14" name="Rounded Rectangle 13"/>
          <p:cNvSpPr/>
          <p:nvPr/>
        </p:nvSpPr>
        <p:spPr>
          <a:xfrm>
            <a:off x="4206240" y="3264408"/>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264408"/>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search repo nginx</a:t>
            </a:r>
          </a:p>
        </p:txBody>
      </p:sp>
      <p:sp>
        <p:nvSpPr>
          <p:cNvPr id="16" name="Oval 15"/>
          <p:cNvSpPr/>
          <p:nvPr/>
        </p:nvSpPr>
        <p:spPr>
          <a:xfrm>
            <a:off x="548640" y="4059935"/>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7" name="TextBox 16"/>
          <p:cNvSpPr txBox="1"/>
          <p:nvPr/>
        </p:nvSpPr>
        <p:spPr>
          <a:xfrm>
            <a:off x="1280160" y="3986783"/>
            <a:ext cx="2926080" cy="640080"/>
          </a:xfrm>
          <a:prstGeom prst="rect">
            <a:avLst/>
          </a:prstGeom>
          <a:noFill/>
        </p:spPr>
        <p:txBody>
          <a:bodyPr wrap="square" lIns="0" rIns="0" tIns="0" bIns="0" anchor="ctr">
            <a:spAutoFit/>
          </a:bodyPr>
          <a:lstStyle/>
          <a:p>
            <a:pPr algn="l"/>
            <a:r>
              <a:rPr sz="1800" b="1" i="0">
                <a:solidFill>
                  <a:srgbClr val="1B2433"/>
                </a:solidFill>
                <a:latin typeface="Calibri"/>
              </a:rPr>
              <a:t>See its settings</a:t>
            </a:r>
          </a:p>
        </p:txBody>
      </p:sp>
      <p:sp>
        <p:nvSpPr>
          <p:cNvPr id="18" name="Rounded Rectangle 17"/>
          <p:cNvSpPr/>
          <p:nvPr/>
        </p:nvSpPr>
        <p:spPr>
          <a:xfrm>
            <a:off x="4206240" y="4014215"/>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014215"/>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show values bitnami/nginx</a:t>
            </a:r>
          </a:p>
        </p:txBody>
      </p:sp>
      <p:sp>
        <p:nvSpPr>
          <p:cNvPr id="20" name="Oval 19"/>
          <p:cNvSpPr/>
          <p:nvPr/>
        </p:nvSpPr>
        <p:spPr>
          <a:xfrm>
            <a:off x="548640" y="4809744"/>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1" name="TextBox 20"/>
          <p:cNvSpPr txBox="1"/>
          <p:nvPr/>
        </p:nvSpPr>
        <p:spPr>
          <a:xfrm>
            <a:off x="1280160" y="4736592"/>
            <a:ext cx="2926080" cy="640080"/>
          </a:xfrm>
          <a:prstGeom prst="rect">
            <a:avLst/>
          </a:prstGeom>
          <a:noFill/>
        </p:spPr>
        <p:txBody>
          <a:bodyPr wrap="square" lIns="0" rIns="0" tIns="0" bIns="0" anchor="ctr">
            <a:spAutoFit/>
          </a:bodyPr>
          <a:lstStyle/>
          <a:p>
            <a:pPr algn="l"/>
            <a:r>
              <a:rPr sz="1800" b="1" i="0">
                <a:solidFill>
                  <a:srgbClr val="1B2433"/>
                </a:solidFill>
                <a:latin typeface="Calibri"/>
              </a:rPr>
              <a:t>Install it</a:t>
            </a:r>
          </a:p>
        </p:txBody>
      </p:sp>
      <p:sp>
        <p:nvSpPr>
          <p:cNvPr id="22" name="Rounded Rectangle 21"/>
          <p:cNvSpPr/>
          <p:nvPr/>
        </p:nvSpPr>
        <p:spPr>
          <a:xfrm>
            <a:off x="4206240" y="4764024"/>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4764024"/>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install web bitnami/nginx --set service.type=NodePort</a:t>
            </a:r>
          </a:p>
        </p:txBody>
      </p:sp>
      <p:sp>
        <p:nvSpPr>
          <p:cNvPr id="24" name="Oval 23"/>
          <p:cNvSpPr/>
          <p:nvPr/>
        </p:nvSpPr>
        <p:spPr>
          <a:xfrm>
            <a:off x="548640" y="5559552"/>
            <a:ext cx="502920" cy="50292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25" name="TextBox 24"/>
          <p:cNvSpPr txBox="1"/>
          <p:nvPr/>
        </p:nvSpPr>
        <p:spPr>
          <a:xfrm>
            <a:off x="1280160" y="5486400"/>
            <a:ext cx="2926080" cy="640080"/>
          </a:xfrm>
          <a:prstGeom prst="rect">
            <a:avLst/>
          </a:prstGeom>
          <a:noFill/>
        </p:spPr>
        <p:txBody>
          <a:bodyPr wrap="square" lIns="0" rIns="0" tIns="0" bIns="0" anchor="ctr">
            <a:spAutoFit/>
          </a:bodyPr>
          <a:lstStyle/>
          <a:p>
            <a:pPr algn="l"/>
            <a:r>
              <a:rPr sz="1800" b="1" i="0">
                <a:solidFill>
                  <a:srgbClr val="1B2433"/>
                </a:solidFill>
                <a:latin typeface="Calibri"/>
              </a:rPr>
              <a:t>Check and remove</a:t>
            </a:r>
          </a:p>
        </p:txBody>
      </p:sp>
      <p:sp>
        <p:nvSpPr>
          <p:cNvPr id="26" name="Rounded Rectangle 25"/>
          <p:cNvSpPr/>
          <p:nvPr/>
        </p:nvSpPr>
        <p:spPr>
          <a:xfrm>
            <a:off x="4206240" y="5513832"/>
            <a:ext cx="7436815" cy="585216"/>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5513832"/>
            <a:ext cx="6979615" cy="585216"/>
          </a:xfrm>
          <a:prstGeom prst="rect">
            <a:avLst/>
          </a:prstGeom>
          <a:noFill/>
        </p:spPr>
        <p:txBody>
          <a:bodyPr wrap="square" lIns="0" rIns="0" tIns="0" bIns="0" anchor="ctr">
            <a:spAutoFit/>
          </a:bodyPr>
          <a:lstStyle/>
          <a:p>
            <a:pPr algn="l"/>
            <a:r>
              <a:rPr sz="1400" b="0" i="0">
                <a:solidFill>
                  <a:srgbClr val="E6EDF5"/>
                </a:solidFill>
                <a:latin typeface="Consolas"/>
              </a:rPr>
              <a:t>helm list    then    helm uninstall web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HOW TO USE HELM · STEP 3</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Create and deploy your own chart</a:t>
            </a:r>
          </a:p>
        </p:txBody>
      </p:sp>
      <p:sp>
        <p:nvSpPr>
          <p:cNvPr id="4" name="Rounded Rectangle 3"/>
          <p:cNvSpPr/>
          <p:nvPr/>
        </p:nvSpPr>
        <p:spPr>
          <a:xfrm>
            <a:off x="548640" y="1920240"/>
            <a:ext cx="1889699" cy="21031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20"/>
            <a:ext cx="457200" cy="4572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777240" y="2697480"/>
            <a:ext cx="1432499" cy="411480"/>
          </a:xfrm>
          <a:prstGeom prst="rect">
            <a:avLst/>
          </a:prstGeom>
          <a:noFill/>
        </p:spPr>
        <p:txBody>
          <a:bodyPr wrap="square" lIns="0" rIns="0" tIns="0" bIns="0" anchor="t">
            <a:spAutoFit/>
          </a:bodyPr>
          <a:lstStyle/>
          <a:p>
            <a:pPr algn="l"/>
            <a:r>
              <a:rPr sz="1900" b="1" i="0">
                <a:solidFill>
                  <a:srgbClr val="1B2433"/>
                </a:solidFill>
                <a:latin typeface="Calibri"/>
              </a:rPr>
              <a:t>Create</a:t>
            </a:r>
          </a:p>
        </p:txBody>
      </p:sp>
      <p:sp>
        <p:nvSpPr>
          <p:cNvPr id="7" name="TextBox 6"/>
          <p:cNvSpPr txBox="1"/>
          <p:nvPr/>
        </p:nvSpPr>
        <p:spPr>
          <a:xfrm>
            <a:off x="777240" y="3154680"/>
            <a:ext cx="1432499" cy="822960"/>
          </a:xfrm>
          <a:prstGeom prst="rect">
            <a:avLst/>
          </a:prstGeom>
          <a:noFill/>
        </p:spPr>
        <p:txBody>
          <a:bodyPr wrap="square" lIns="0" rIns="0" tIns="0" bIns="0" anchor="t">
            <a:spAutoFit/>
          </a:bodyPr>
          <a:lstStyle/>
          <a:p>
            <a:pPr algn="l"/>
            <a:r>
              <a:rPr sz="1200" b="0" i="0">
                <a:solidFill>
                  <a:srgbClr val="2E6FD8"/>
                </a:solidFill>
                <a:latin typeface="Consolas"/>
              </a:rPr>
              <a:t>helm create myjavaapp</a:t>
            </a:r>
          </a:p>
        </p:txBody>
      </p:sp>
      <p:sp>
        <p:nvSpPr>
          <p:cNvPr id="8" name="Right Arrow 7"/>
          <p:cNvSpPr/>
          <p:nvPr/>
        </p:nvSpPr>
        <p:spPr>
          <a:xfrm>
            <a:off x="2502347" y="2834640"/>
            <a:ext cx="274320" cy="27432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9819" y="1920240"/>
            <a:ext cx="1889699" cy="21031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78419" y="2103120"/>
            <a:ext cx="457200" cy="4572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3078419" y="2697480"/>
            <a:ext cx="1432499" cy="411480"/>
          </a:xfrm>
          <a:prstGeom prst="rect">
            <a:avLst/>
          </a:prstGeom>
          <a:noFill/>
        </p:spPr>
        <p:txBody>
          <a:bodyPr wrap="square" lIns="0" rIns="0" tIns="0" bIns="0" anchor="t">
            <a:spAutoFit/>
          </a:bodyPr>
          <a:lstStyle/>
          <a:p>
            <a:pPr algn="l"/>
            <a:r>
              <a:rPr sz="1900" b="1" i="0">
                <a:solidFill>
                  <a:srgbClr val="1B2433"/>
                </a:solidFill>
                <a:latin typeface="Calibri"/>
              </a:rPr>
              <a:t>Edit</a:t>
            </a:r>
          </a:p>
        </p:txBody>
      </p:sp>
      <p:sp>
        <p:nvSpPr>
          <p:cNvPr id="12" name="TextBox 11"/>
          <p:cNvSpPr txBox="1"/>
          <p:nvPr/>
        </p:nvSpPr>
        <p:spPr>
          <a:xfrm>
            <a:off x="3078419" y="3154680"/>
            <a:ext cx="1432499" cy="822960"/>
          </a:xfrm>
          <a:prstGeom prst="rect">
            <a:avLst/>
          </a:prstGeom>
          <a:noFill/>
        </p:spPr>
        <p:txBody>
          <a:bodyPr wrap="square" lIns="0" rIns="0" tIns="0" bIns="0" anchor="t">
            <a:spAutoFit/>
          </a:bodyPr>
          <a:lstStyle/>
          <a:p>
            <a:pPr algn="l"/>
            <a:r>
              <a:rPr sz="1200" b="0" i="0">
                <a:solidFill>
                  <a:srgbClr val="2E6FD8"/>
                </a:solidFill>
                <a:latin typeface="Consolas"/>
              </a:rPr>
              <a:t>templates/ + values.yaml</a:t>
            </a:r>
          </a:p>
        </p:txBody>
      </p:sp>
      <p:sp>
        <p:nvSpPr>
          <p:cNvPr id="13" name="Right Arrow 12"/>
          <p:cNvSpPr/>
          <p:nvPr/>
        </p:nvSpPr>
        <p:spPr>
          <a:xfrm>
            <a:off x="4803526" y="2834640"/>
            <a:ext cx="274320" cy="27432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50998" y="1920240"/>
            <a:ext cx="1889699" cy="21031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79598" y="2103120"/>
            <a:ext cx="457200" cy="4572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5379598" y="2697480"/>
            <a:ext cx="1432499" cy="411480"/>
          </a:xfrm>
          <a:prstGeom prst="rect">
            <a:avLst/>
          </a:prstGeom>
          <a:noFill/>
        </p:spPr>
        <p:txBody>
          <a:bodyPr wrap="square" lIns="0" rIns="0" tIns="0" bIns="0" anchor="t">
            <a:spAutoFit/>
          </a:bodyPr>
          <a:lstStyle/>
          <a:p>
            <a:pPr algn="l"/>
            <a:r>
              <a:rPr sz="1900" b="1" i="0">
                <a:solidFill>
                  <a:srgbClr val="1B2433"/>
                </a:solidFill>
                <a:latin typeface="Calibri"/>
              </a:rPr>
              <a:t>Check</a:t>
            </a:r>
          </a:p>
        </p:txBody>
      </p:sp>
      <p:sp>
        <p:nvSpPr>
          <p:cNvPr id="17" name="TextBox 16"/>
          <p:cNvSpPr txBox="1"/>
          <p:nvPr/>
        </p:nvSpPr>
        <p:spPr>
          <a:xfrm>
            <a:off x="5379598" y="3154680"/>
            <a:ext cx="1432499" cy="822960"/>
          </a:xfrm>
          <a:prstGeom prst="rect">
            <a:avLst/>
          </a:prstGeom>
          <a:noFill/>
        </p:spPr>
        <p:txBody>
          <a:bodyPr wrap="square" lIns="0" rIns="0" tIns="0" bIns="0" anchor="t">
            <a:spAutoFit/>
          </a:bodyPr>
          <a:lstStyle/>
          <a:p>
            <a:pPr algn="l"/>
            <a:r>
              <a:rPr sz="1200" b="0" i="0">
                <a:solidFill>
                  <a:srgbClr val="2E6FD8"/>
                </a:solidFill>
                <a:latin typeface="Consolas"/>
              </a:rPr>
              <a:t>helm lint ./myjavaapp</a:t>
            </a:r>
          </a:p>
        </p:txBody>
      </p:sp>
      <p:sp>
        <p:nvSpPr>
          <p:cNvPr id="18" name="Right Arrow 17"/>
          <p:cNvSpPr/>
          <p:nvPr/>
        </p:nvSpPr>
        <p:spPr>
          <a:xfrm>
            <a:off x="7104705" y="2834640"/>
            <a:ext cx="274320" cy="27432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52177" y="1920240"/>
            <a:ext cx="1889699" cy="210312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680777" y="2103120"/>
            <a:ext cx="457200" cy="4572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1" name="TextBox 20"/>
          <p:cNvSpPr txBox="1"/>
          <p:nvPr/>
        </p:nvSpPr>
        <p:spPr>
          <a:xfrm>
            <a:off x="7680777" y="2697480"/>
            <a:ext cx="1432499" cy="411480"/>
          </a:xfrm>
          <a:prstGeom prst="rect">
            <a:avLst/>
          </a:prstGeom>
          <a:noFill/>
        </p:spPr>
        <p:txBody>
          <a:bodyPr wrap="square" lIns="0" rIns="0" tIns="0" bIns="0" anchor="t">
            <a:spAutoFit/>
          </a:bodyPr>
          <a:lstStyle/>
          <a:p>
            <a:pPr algn="l"/>
            <a:r>
              <a:rPr sz="1900" b="1" i="0">
                <a:solidFill>
                  <a:srgbClr val="1B2433"/>
                </a:solidFill>
                <a:latin typeface="Calibri"/>
              </a:rPr>
              <a:t>Preview</a:t>
            </a:r>
          </a:p>
        </p:txBody>
      </p:sp>
      <p:sp>
        <p:nvSpPr>
          <p:cNvPr id="22" name="TextBox 21"/>
          <p:cNvSpPr txBox="1"/>
          <p:nvPr/>
        </p:nvSpPr>
        <p:spPr>
          <a:xfrm>
            <a:off x="7680777" y="3154680"/>
            <a:ext cx="1432499" cy="822960"/>
          </a:xfrm>
          <a:prstGeom prst="rect">
            <a:avLst/>
          </a:prstGeom>
          <a:noFill/>
        </p:spPr>
        <p:txBody>
          <a:bodyPr wrap="square" lIns="0" rIns="0" tIns="0" bIns="0" anchor="t">
            <a:spAutoFit/>
          </a:bodyPr>
          <a:lstStyle/>
          <a:p>
            <a:pPr algn="l"/>
            <a:r>
              <a:rPr sz="1200" b="0" i="0">
                <a:solidFill>
                  <a:srgbClr val="2E6FD8"/>
                </a:solidFill>
                <a:latin typeface="Consolas"/>
              </a:rPr>
              <a:t>helm template ./myjavaapp</a:t>
            </a:r>
          </a:p>
        </p:txBody>
      </p:sp>
      <p:sp>
        <p:nvSpPr>
          <p:cNvPr id="23" name="Right Arrow 22"/>
          <p:cNvSpPr/>
          <p:nvPr/>
        </p:nvSpPr>
        <p:spPr>
          <a:xfrm>
            <a:off x="9405884" y="2834640"/>
            <a:ext cx="274320" cy="274320"/>
          </a:xfrm>
          <a:prstGeom prst="rightArrow">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53356" y="1920240"/>
            <a:ext cx="1889699" cy="210312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81956" y="2103120"/>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6" name="TextBox 25"/>
          <p:cNvSpPr txBox="1"/>
          <p:nvPr/>
        </p:nvSpPr>
        <p:spPr>
          <a:xfrm>
            <a:off x="9981956" y="2697480"/>
            <a:ext cx="1432499" cy="411480"/>
          </a:xfrm>
          <a:prstGeom prst="rect">
            <a:avLst/>
          </a:prstGeom>
          <a:noFill/>
        </p:spPr>
        <p:txBody>
          <a:bodyPr wrap="square" lIns="0" rIns="0" tIns="0" bIns="0" anchor="t">
            <a:spAutoFit/>
          </a:bodyPr>
          <a:lstStyle/>
          <a:p>
            <a:pPr algn="l"/>
            <a:r>
              <a:rPr sz="1900" b="1" i="0">
                <a:solidFill>
                  <a:srgbClr val="FFFFFF"/>
                </a:solidFill>
                <a:latin typeface="Calibri"/>
              </a:rPr>
              <a:t>Install</a:t>
            </a:r>
          </a:p>
        </p:txBody>
      </p:sp>
      <p:sp>
        <p:nvSpPr>
          <p:cNvPr id="27" name="TextBox 26"/>
          <p:cNvSpPr txBox="1"/>
          <p:nvPr/>
        </p:nvSpPr>
        <p:spPr>
          <a:xfrm>
            <a:off x="9981956" y="3154680"/>
            <a:ext cx="1432499" cy="822960"/>
          </a:xfrm>
          <a:prstGeom prst="rect">
            <a:avLst/>
          </a:prstGeom>
          <a:noFill/>
        </p:spPr>
        <p:txBody>
          <a:bodyPr wrap="square" lIns="0" rIns="0" tIns="0" bIns="0" anchor="t">
            <a:spAutoFit/>
          </a:bodyPr>
          <a:lstStyle/>
          <a:p>
            <a:pPr algn="l"/>
            <a:r>
              <a:rPr sz="1200" b="0" i="0">
                <a:solidFill>
                  <a:srgbClr val="E6EDF5"/>
                </a:solidFill>
                <a:latin typeface="Consolas"/>
              </a:rPr>
              <a:t>helm install booking-dev ./myjavaapp</a:t>
            </a:r>
          </a:p>
        </p:txBody>
      </p:sp>
      <p:sp>
        <p:nvSpPr>
          <p:cNvPr id="28" name="Rounded Rectangle 27"/>
          <p:cNvSpPr/>
          <p:nvPr/>
        </p:nvSpPr>
        <p:spPr>
          <a:xfrm>
            <a:off x="548640" y="4389120"/>
            <a:ext cx="11094415" cy="160020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526280"/>
            <a:ext cx="10454335" cy="1371600"/>
          </a:xfrm>
          <a:prstGeom prst="rect">
            <a:avLst/>
          </a:prstGeom>
          <a:noFill/>
        </p:spPr>
        <p:txBody>
          <a:bodyPr wrap="square" lIns="0" rIns="0" tIns="0" bIns="0" anchor="t">
            <a:spAutoFit/>
          </a:bodyPr>
          <a:lstStyle/>
          <a:p>
            <a:pPr algn="l">
              <a:spcAft>
                <a:spcPts val="600"/>
              </a:spcAft>
            </a:pPr>
            <a:r>
              <a:rPr sz="1600" b="0" i="0">
                <a:solidFill>
                  <a:srgbClr val="2E6FD8"/>
                </a:solidFill>
                <a:latin typeface="Consolas"/>
              </a:rPr>
              <a:t>helm create </a:t>
            </a:r>
            <a:r>
              <a:rPr sz="1600" b="0" i="0">
                <a:solidFill>
                  <a:srgbClr val="4A5568"/>
                </a:solidFill>
                <a:latin typeface="Calibri"/>
              </a:rPr>
              <a:t>gives sample files. Delete the samples in templates/ you don’t need, then paste your own YAML in.</a:t>
            </a:r>
          </a:p>
          <a:p>
            <a:pPr algn="l">
              <a:spcAft>
                <a:spcPts val="600"/>
              </a:spcAft>
            </a:pPr>
            <a:r>
              <a:rPr sz="1600" b="0" i="0">
                <a:solidFill>
                  <a:srgbClr val="4A5568"/>
                </a:solidFill>
                <a:latin typeface="Calibri"/>
              </a:rPr>
              <a:t>Replace </a:t>
            </a:r>
            <a:r>
              <a:rPr sz="1600" b="1" i="0">
                <a:solidFill>
                  <a:srgbClr val="4A5568"/>
                </a:solidFill>
                <a:latin typeface="Calibri"/>
              </a:rPr>
              <a:t>only the values that change</a:t>
            </a:r>
            <a:r>
              <a:rPr sz="1600" b="0" i="0">
                <a:solidFill>
                  <a:srgbClr val="4A5568"/>
                </a:solidFill>
                <a:latin typeface="Calibri"/>
              </a:rPr>
              <a:t> with {{ .Values.… }} and put them in values.yaml.</a:t>
            </a:r>
          </a:p>
          <a:p>
            <a:pPr algn="l">
              <a:spcAft>
                <a:spcPts val="600"/>
              </a:spcAft>
            </a:pPr>
            <a:r>
              <a:rPr sz="1600" b="0" i="0">
                <a:solidFill>
                  <a:srgbClr val="4A5568"/>
                </a:solidFill>
                <a:latin typeface="Calibri"/>
              </a:rPr>
              <a:t>Always run </a:t>
            </a:r>
            <a:r>
              <a:rPr sz="1600" b="0" i="0">
                <a:solidFill>
                  <a:srgbClr val="2E6FD8"/>
                </a:solidFill>
                <a:latin typeface="Consolas"/>
              </a:rPr>
              <a:t>lint</a:t>
            </a:r>
            <a:r>
              <a:rPr sz="1600" b="0" i="0">
                <a:solidFill>
                  <a:srgbClr val="4A5568"/>
                </a:solidFill>
                <a:latin typeface="Calibri"/>
              </a:rPr>
              <a:t> and </a:t>
            </a:r>
            <a:r>
              <a:rPr sz="1600" b="0" i="0">
                <a:solidFill>
                  <a:srgbClr val="2E6FD8"/>
                </a:solidFill>
                <a:latin typeface="Consolas"/>
              </a:rPr>
              <a:t>template</a:t>
            </a:r>
            <a:r>
              <a:rPr sz="1600" b="0" i="0">
                <a:solidFill>
                  <a:srgbClr val="4A5568"/>
                </a:solidFill>
                <a:latin typeface="Calibri"/>
              </a:rPr>
              <a:t> before you install. Our chart in helm/myjavaapp was made exactly this 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6EBF2"/>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RELEASE LIFECYCLE</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Every change gets a revision number</a:t>
            </a:r>
          </a:p>
        </p:txBody>
      </p:sp>
      <p:sp>
        <p:nvSpPr>
          <p:cNvPr id="4" name="Rounded Rectangle 3"/>
          <p:cNvSpPr/>
          <p:nvPr/>
        </p:nvSpPr>
        <p:spPr>
          <a:xfrm>
            <a:off x="548640" y="1783080"/>
            <a:ext cx="11094415" cy="7772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1737360" cy="777240"/>
          </a:xfrm>
          <a:prstGeom prst="rect">
            <a:avLst/>
          </a:prstGeom>
          <a:noFill/>
        </p:spPr>
        <p:txBody>
          <a:bodyPr wrap="square" lIns="0" rIns="0" tIns="0" bIns="0" anchor="ctr">
            <a:spAutoFit/>
          </a:bodyPr>
          <a:lstStyle/>
          <a:p>
            <a:pPr algn="l"/>
            <a:r>
              <a:rPr sz="1700" b="1" i="0">
                <a:solidFill>
                  <a:srgbClr val="2E6FD8"/>
                </a:solidFill>
                <a:latin typeface="Calibri"/>
              </a:rPr>
              <a:t>1 · install</a:t>
            </a:r>
          </a:p>
        </p:txBody>
      </p:sp>
      <p:sp>
        <p:nvSpPr>
          <p:cNvPr id="6" name="TextBox 5"/>
          <p:cNvSpPr txBox="1"/>
          <p:nvPr/>
        </p:nvSpPr>
        <p:spPr>
          <a:xfrm>
            <a:off x="2651760" y="1783080"/>
            <a:ext cx="6309360" cy="777240"/>
          </a:xfrm>
          <a:prstGeom prst="rect">
            <a:avLst/>
          </a:prstGeom>
          <a:noFill/>
        </p:spPr>
        <p:txBody>
          <a:bodyPr wrap="square" lIns="0" rIns="0" tIns="0" bIns="0" anchor="ctr">
            <a:spAutoFit/>
          </a:bodyPr>
          <a:lstStyle/>
          <a:p>
            <a:pPr algn="l"/>
            <a:r>
              <a:rPr sz="1200" b="0" i="0">
                <a:solidFill>
                  <a:srgbClr val="1B2433"/>
                </a:solidFill>
                <a:latin typeface="Consolas"/>
              </a:rPr>
              <a:t>helm install booking-dev ./myjavaapp -f myjavaapp/values-dev.yaml -n dev</a:t>
            </a:r>
          </a:p>
        </p:txBody>
      </p:sp>
      <p:sp>
        <p:nvSpPr>
          <p:cNvPr id="7" name="TextBox 6"/>
          <p:cNvSpPr txBox="1"/>
          <p:nvPr/>
        </p:nvSpPr>
        <p:spPr>
          <a:xfrm>
            <a:off x="9235440" y="1783080"/>
            <a:ext cx="2194560" cy="777240"/>
          </a:xfrm>
          <a:prstGeom prst="rect">
            <a:avLst/>
          </a:prstGeom>
          <a:noFill/>
        </p:spPr>
        <p:txBody>
          <a:bodyPr wrap="square" lIns="0" rIns="0" tIns="0" bIns="0" anchor="ctr">
            <a:spAutoFit/>
          </a:bodyPr>
          <a:lstStyle/>
          <a:p>
            <a:pPr algn="l"/>
            <a:r>
              <a:rPr sz="1500" b="0" i="0">
                <a:solidFill>
                  <a:srgbClr val="4A5568"/>
                </a:solidFill>
                <a:latin typeface="Calibri"/>
              </a:rPr>
              <a:t>Revision 1 · 1 pod</a:t>
            </a:r>
          </a:p>
        </p:txBody>
      </p:sp>
      <p:sp>
        <p:nvSpPr>
          <p:cNvPr id="8" name="Rounded Rectangle 7"/>
          <p:cNvSpPr/>
          <p:nvPr/>
        </p:nvSpPr>
        <p:spPr>
          <a:xfrm>
            <a:off x="548640" y="2697480"/>
            <a:ext cx="11094415" cy="7772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697480"/>
            <a:ext cx="1737360" cy="777240"/>
          </a:xfrm>
          <a:prstGeom prst="rect">
            <a:avLst/>
          </a:prstGeom>
          <a:noFill/>
        </p:spPr>
        <p:txBody>
          <a:bodyPr wrap="square" lIns="0" rIns="0" tIns="0" bIns="0" anchor="ctr">
            <a:spAutoFit/>
          </a:bodyPr>
          <a:lstStyle/>
          <a:p>
            <a:pPr algn="l"/>
            <a:r>
              <a:rPr sz="1700" b="1" i="0">
                <a:solidFill>
                  <a:srgbClr val="2E6FD8"/>
                </a:solidFill>
                <a:latin typeface="Calibri"/>
              </a:rPr>
              <a:t>2 · upgrade</a:t>
            </a:r>
          </a:p>
        </p:txBody>
      </p:sp>
      <p:sp>
        <p:nvSpPr>
          <p:cNvPr id="10" name="TextBox 9"/>
          <p:cNvSpPr txBox="1"/>
          <p:nvPr/>
        </p:nvSpPr>
        <p:spPr>
          <a:xfrm>
            <a:off x="2651760" y="2697480"/>
            <a:ext cx="6309360" cy="777240"/>
          </a:xfrm>
          <a:prstGeom prst="rect">
            <a:avLst/>
          </a:prstGeom>
          <a:noFill/>
        </p:spPr>
        <p:txBody>
          <a:bodyPr wrap="square" lIns="0" rIns="0" tIns="0" bIns="0" anchor="ctr">
            <a:spAutoFit/>
          </a:bodyPr>
          <a:lstStyle/>
          <a:p>
            <a:pPr algn="l"/>
            <a:r>
              <a:rPr sz="1200" b="0" i="0">
                <a:solidFill>
                  <a:srgbClr val="1B2433"/>
                </a:solidFill>
                <a:latin typeface="Consolas"/>
              </a:rPr>
              <a:t>helm upgrade booking-dev ./myjavaapp -f myjavaapp/values-dev.yaml --set replicaCount=3 -n dev</a:t>
            </a:r>
          </a:p>
        </p:txBody>
      </p:sp>
      <p:sp>
        <p:nvSpPr>
          <p:cNvPr id="11" name="TextBox 10"/>
          <p:cNvSpPr txBox="1"/>
          <p:nvPr/>
        </p:nvSpPr>
        <p:spPr>
          <a:xfrm>
            <a:off x="9235440" y="2697480"/>
            <a:ext cx="2194560" cy="777240"/>
          </a:xfrm>
          <a:prstGeom prst="rect">
            <a:avLst/>
          </a:prstGeom>
          <a:noFill/>
        </p:spPr>
        <p:txBody>
          <a:bodyPr wrap="square" lIns="0" rIns="0" tIns="0" bIns="0" anchor="ctr">
            <a:spAutoFit/>
          </a:bodyPr>
          <a:lstStyle/>
          <a:p>
            <a:pPr algn="l"/>
            <a:r>
              <a:rPr sz="1500" b="0" i="0">
                <a:solidFill>
                  <a:srgbClr val="4A5568"/>
                </a:solidFill>
                <a:latin typeface="Calibri"/>
              </a:rPr>
              <a:t>Revision 2 · 3 pods</a:t>
            </a:r>
          </a:p>
        </p:txBody>
      </p:sp>
      <p:sp>
        <p:nvSpPr>
          <p:cNvPr id="12" name="Rounded Rectangle 11"/>
          <p:cNvSpPr/>
          <p:nvPr/>
        </p:nvSpPr>
        <p:spPr>
          <a:xfrm>
            <a:off x="548640" y="3611880"/>
            <a:ext cx="11094415" cy="7772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3611880"/>
            <a:ext cx="1737360" cy="777240"/>
          </a:xfrm>
          <a:prstGeom prst="rect">
            <a:avLst/>
          </a:prstGeom>
          <a:noFill/>
        </p:spPr>
        <p:txBody>
          <a:bodyPr wrap="square" lIns="0" rIns="0" tIns="0" bIns="0" anchor="ctr">
            <a:spAutoFit/>
          </a:bodyPr>
          <a:lstStyle/>
          <a:p>
            <a:pPr algn="l"/>
            <a:r>
              <a:rPr sz="1700" b="1" i="0">
                <a:solidFill>
                  <a:srgbClr val="2E6FD8"/>
                </a:solidFill>
                <a:latin typeface="Calibri"/>
              </a:rPr>
              <a:t>3 · rollback</a:t>
            </a:r>
          </a:p>
        </p:txBody>
      </p:sp>
      <p:sp>
        <p:nvSpPr>
          <p:cNvPr id="14" name="TextBox 13"/>
          <p:cNvSpPr txBox="1"/>
          <p:nvPr/>
        </p:nvSpPr>
        <p:spPr>
          <a:xfrm>
            <a:off x="2651760" y="3611880"/>
            <a:ext cx="6309360" cy="777240"/>
          </a:xfrm>
          <a:prstGeom prst="rect">
            <a:avLst/>
          </a:prstGeom>
          <a:noFill/>
        </p:spPr>
        <p:txBody>
          <a:bodyPr wrap="square" lIns="0" rIns="0" tIns="0" bIns="0" anchor="ctr">
            <a:spAutoFit/>
          </a:bodyPr>
          <a:lstStyle/>
          <a:p>
            <a:pPr algn="l"/>
            <a:r>
              <a:rPr sz="1200" b="0" i="0">
                <a:solidFill>
                  <a:srgbClr val="1B2433"/>
                </a:solidFill>
                <a:latin typeface="Consolas"/>
              </a:rPr>
              <a:t>helm rollback booking-dev 1 -n dev</a:t>
            </a:r>
          </a:p>
        </p:txBody>
      </p:sp>
      <p:sp>
        <p:nvSpPr>
          <p:cNvPr id="15" name="TextBox 14"/>
          <p:cNvSpPr txBox="1"/>
          <p:nvPr/>
        </p:nvSpPr>
        <p:spPr>
          <a:xfrm>
            <a:off x="9235440" y="3611880"/>
            <a:ext cx="2194560" cy="777240"/>
          </a:xfrm>
          <a:prstGeom prst="rect">
            <a:avLst/>
          </a:prstGeom>
          <a:noFill/>
        </p:spPr>
        <p:txBody>
          <a:bodyPr wrap="square" lIns="0" rIns="0" tIns="0" bIns="0" anchor="ctr">
            <a:spAutoFit/>
          </a:bodyPr>
          <a:lstStyle/>
          <a:p>
            <a:pPr algn="l"/>
            <a:r>
              <a:rPr sz="1500" b="0" i="0">
                <a:solidFill>
                  <a:srgbClr val="4A5568"/>
                </a:solidFill>
                <a:latin typeface="Calibri"/>
              </a:rPr>
              <a:t>Revision 3 · back to 1 pod</a:t>
            </a:r>
          </a:p>
        </p:txBody>
      </p:sp>
      <p:sp>
        <p:nvSpPr>
          <p:cNvPr id="16" name="Rounded Rectangle 15"/>
          <p:cNvSpPr/>
          <p:nvPr/>
        </p:nvSpPr>
        <p:spPr>
          <a:xfrm>
            <a:off x="548640" y="4526280"/>
            <a:ext cx="11094415" cy="777240"/>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526280"/>
            <a:ext cx="1737360" cy="777240"/>
          </a:xfrm>
          <a:prstGeom prst="rect">
            <a:avLst/>
          </a:prstGeom>
          <a:noFill/>
        </p:spPr>
        <p:txBody>
          <a:bodyPr wrap="square" lIns="0" rIns="0" tIns="0" bIns="0" anchor="ctr">
            <a:spAutoFit/>
          </a:bodyPr>
          <a:lstStyle/>
          <a:p>
            <a:pPr algn="l"/>
            <a:r>
              <a:rPr sz="1700" b="1" i="0">
                <a:solidFill>
                  <a:srgbClr val="D9772B"/>
                </a:solidFill>
                <a:latin typeface="Calibri"/>
              </a:rPr>
              <a:t>4 · uninstall</a:t>
            </a:r>
          </a:p>
        </p:txBody>
      </p:sp>
      <p:sp>
        <p:nvSpPr>
          <p:cNvPr id="18" name="TextBox 17"/>
          <p:cNvSpPr txBox="1"/>
          <p:nvPr/>
        </p:nvSpPr>
        <p:spPr>
          <a:xfrm>
            <a:off x="2651760" y="4526280"/>
            <a:ext cx="6309360" cy="777240"/>
          </a:xfrm>
          <a:prstGeom prst="rect">
            <a:avLst/>
          </a:prstGeom>
          <a:noFill/>
        </p:spPr>
        <p:txBody>
          <a:bodyPr wrap="square" lIns="0" rIns="0" tIns="0" bIns="0" anchor="ctr">
            <a:spAutoFit/>
          </a:bodyPr>
          <a:lstStyle/>
          <a:p>
            <a:pPr algn="l"/>
            <a:r>
              <a:rPr sz="1200" b="0" i="0">
                <a:solidFill>
                  <a:srgbClr val="1B2433"/>
                </a:solidFill>
                <a:latin typeface="Consolas"/>
              </a:rPr>
              <a:t>helm uninstall booking-dev -n dev</a:t>
            </a:r>
          </a:p>
        </p:txBody>
      </p:sp>
      <p:sp>
        <p:nvSpPr>
          <p:cNvPr id="19" name="TextBox 18"/>
          <p:cNvSpPr txBox="1"/>
          <p:nvPr/>
        </p:nvSpPr>
        <p:spPr>
          <a:xfrm>
            <a:off x="9235440" y="4526280"/>
            <a:ext cx="2194560" cy="777240"/>
          </a:xfrm>
          <a:prstGeom prst="rect">
            <a:avLst/>
          </a:prstGeom>
          <a:noFill/>
        </p:spPr>
        <p:txBody>
          <a:bodyPr wrap="square" lIns="0" rIns="0" tIns="0" bIns="0" anchor="ctr">
            <a:spAutoFit/>
          </a:bodyPr>
          <a:lstStyle/>
          <a:p>
            <a:pPr algn="l"/>
            <a:r>
              <a:rPr sz="1500" b="0" i="0">
                <a:solidFill>
                  <a:srgbClr val="4A5568"/>
                </a:solidFill>
                <a:latin typeface="Calibri"/>
              </a:rPr>
              <a:t>Everything deleted</a:t>
            </a:r>
          </a:p>
        </p:txBody>
      </p:sp>
      <p:sp>
        <p:nvSpPr>
          <p:cNvPr id="20" name="TextBox 19"/>
          <p:cNvSpPr txBox="1"/>
          <p:nvPr/>
        </p:nvSpPr>
        <p:spPr>
          <a:xfrm>
            <a:off x="548640" y="5577840"/>
            <a:ext cx="11094415" cy="548640"/>
          </a:xfrm>
          <a:prstGeom prst="rect">
            <a:avLst/>
          </a:prstGeom>
          <a:noFill/>
        </p:spPr>
        <p:txBody>
          <a:bodyPr wrap="square" lIns="0" rIns="0" tIns="0" bIns="0" anchor="t">
            <a:spAutoFit/>
          </a:bodyPr>
          <a:lstStyle/>
          <a:p>
            <a:pPr algn="l"/>
            <a:r>
              <a:rPr sz="1700" b="0" i="0">
                <a:solidFill>
                  <a:srgbClr val="2E6FD8"/>
                </a:solidFill>
                <a:latin typeface="Consolas"/>
              </a:rPr>
              <a:t>helm history booking-dev -n dev</a:t>
            </a:r>
            <a:r>
              <a:rPr sz="1700" b="0" i="0">
                <a:solidFill>
                  <a:srgbClr val="4A5568"/>
                </a:solidFill>
                <a:latin typeface="Calibri"/>
              </a:rPr>
              <a:t> lists every revision. A rollback adds a new revision; it does not delete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CHEAT SHEET</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12 commands you will use every day</a:t>
            </a:r>
          </a:p>
        </p:txBody>
      </p:sp>
      <p:sp>
        <p:nvSpPr>
          <p:cNvPr id="4" name="Rounded Rectangle 3"/>
          <p:cNvSpPr/>
          <p:nvPr/>
        </p:nvSpPr>
        <p:spPr>
          <a:xfrm>
            <a:off x="548640" y="173736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version</a:t>
            </a:r>
          </a:p>
        </p:txBody>
      </p:sp>
      <p:sp>
        <p:nvSpPr>
          <p:cNvPr id="6" name="TextBox 5"/>
          <p:cNvSpPr txBox="1"/>
          <p:nvPr/>
        </p:nvSpPr>
        <p:spPr>
          <a:xfrm>
            <a:off x="3794759" y="1737360"/>
            <a:ext cx="1935327" cy="621792"/>
          </a:xfrm>
          <a:prstGeom prst="rect">
            <a:avLst/>
          </a:prstGeom>
          <a:noFill/>
        </p:spPr>
        <p:txBody>
          <a:bodyPr wrap="square" lIns="0" rIns="0" tIns="0" bIns="0" anchor="ctr">
            <a:spAutoFit/>
          </a:bodyPr>
          <a:lstStyle/>
          <a:p>
            <a:pPr algn="l"/>
            <a:r>
              <a:rPr sz="1400" b="0" i="0">
                <a:solidFill>
                  <a:srgbClr val="4A5568"/>
                </a:solidFill>
                <a:latin typeface="Calibri"/>
              </a:rPr>
              <a:t>Check Helm is installed</a:t>
            </a:r>
          </a:p>
        </p:txBody>
      </p:sp>
      <p:sp>
        <p:nvSpPr>
          <p:cNvPr id="7" name="Rounded Rectangle 6"/>
          <p:cNvSpPr/>
          <p:nvPr/>
        </p:nvSpPr>
        <p:spPr>
          <a:xfrm>
            <a:off x="548640" y="246888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6888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repo add &lt;n&gt; &lt;url&gt;</a:t>
            </a:r>
          </a:p>
        </p:txBody>
      </p:sp>
      <p:sp>
        <p:nvSpPr>
          <p:cNvPr id="9" name="TextBox 8"/>
          <p:cNvSpPr txBox="1"/>
          <p:nvPr/>
        </p:nvSpPr>
        <p:spPr>
          <a:xfrm>
            <a:off x="3794759" y="2468880"/>
            <a:ext cx="1935327" cy="621792"/>
          </a:xfrm>
          <a:prstGeom prst="rect">
            <a:avLst/>
          </a:prstGeom>
          <a:noFill/>
        </p:spPr>
        <p:txBody>
          <a:bodyPr wrap="square" lIns="0" rIns="0" tIns="0" bIns="0" anchor="ctr">
            <a:spAutoFit/>
          </a:bodyPr>
          <a:lstStyle/>
          <a:p>
            <a:pPr algn="l"/>
            <a:r>
              <a:rPr sz="1400" b="0" i="0">
                <a:solidFill>
                  <a:srgbClr val="4A5568"/>
                </a:solidFill>
                <a:latin typeface="Calibri"/>
              </a:rPr>
              <a:t>Add a chart repository</a:t>
            </a:r>
          </a:p>
        </p:txBody>
      </p:sp>
      <p:sp>
        <p:nvSpPr>
          <p:cNvPr id="10" name="Rounded Rectangle 9"/>
          <p:cNvSpPr/>
          <p:nvPr/>
        </p:nvSpPr>
        <p:spPr>
          <a:xfrm>
            <a:off x="548640" y="320040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0040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search repo &lt;word&gt;</a:t>
            </a:r>
          </a:p>
        </p:txBody>
      </p:sp>
      <p:sp>
        <p:nvSpPr>
          <p:cNvPr id="12" name="TextBox 11"/>
          <p:cNvSpPr txBox="1"/>
          <p:nvPr/>
        </p:nvSpPr>
        <p:spPr>
          <a:xfrm>
            <a:off x="3794759" y="3200400"/>
            <a:ext cx="1935327" cy="621792"/>
          </a:xfrm>
          <a:prstGeom prst="rect">
            <a:avLst/>
          </a:prstGeom>
          <a:noFill/>
        </p:spPr>
        <p:txBody>
          <a:bodyPr wrap="square" lIns="0" rIns="0" tIns="0" bIns="0" anchor="ctr">
            <a:spAutoFit/>
          </a:bodyPr>
          <a:lstStyle/>
          <a:p>
            <a:pPr algn="l"/>
            <a:r>
              <a:rPr sz="1400" b="0" i="0">
                <a:solidFill>
                  <a:srgbClr val="4A5568"/>
                </a:solidFill>
                <a:latin typeface="Calibri"/>
              </a:rPr>
              <a:t>Find charts</a:t>
            </a:r>
          </a:p>
        </p:txBody>
      </p:sp>
      <p:sp>
        <p:nvSpPr>
          <p:cNvPr id="13" name="Rounded Rectangle 12"/>
          <p:cNvSpPr/>
          <p:nvPr/>
        </p:nvSpPr>
        <p:spPr>
          <a:xfrm>
            <a:off x="548640" y="393192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create &lt;chart&gt;</a:t>
            </a:r>
          </a:p>
        </p:txBody>
      </p:sp>
      <p:sp>
        <p:nvSpPr>
          <p:cNvPr id="15" name="TextBox 14"/>
          <p:cNvSpPr txBox="1"/>
          <p:nvPr/>
        </p:nvSpPr>
        <p:spPr>
          <a:xfrm>
            <a:off x="3794759" y="3931920"/>
            <a:ext cx="1935327" cy="621792"/>
          </a:xfrm>
          <a:prstGeom prst="rect">
            <a:avLst/>
          </a:prstGeom>
          <a:noFill/>
        </p:spPr>
        <p:txBody>
          <a:bodyPr wrap="square" lIns="0" rIns="0" tIns="0" bIns="0" anchor="ctr">
            <a:spAutoFit/>
          </a:bodyPr>
          <a:lstStyle/>
          <a:p>
            <a:pPr algn="l"/>
            <a:r>
              <a:rPr sz="1400" b="0" i="0">
                <a:solidFill>
                  <a:srgbClr val="4A5568"/>
                </a:solidFill>
                <a:latin typeface="Calibri"/>
              </a:rPr>
              <a:t>Make a new chart folder</a:t>
            </a:r>
          </a:p>
        </p:txBody>
      </p:sp>
      <p:sp>
        <p:nvSpPr>
          <p:cNvPr id="16" name="Rounded Rectangle 15"/>
          <p:cNvSpPr/>
          <p:nvPr/>
        </p:nvSpPr>
        <p:spPr>
          <a:xfrm>
            <a:off x="548640" y="466344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66344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lint ./&lt;chart&gt;</a:t>
            </a:r>
          </a:p>
        </p:txBody>
      </p:sp>
      <p:sp>
        <p:nvSpPr>
          <p:cNvPr id="18" name="TextBox 17"/>
          <p:cNvSpPr txBox="1"/>
          <p:nvPr/>
        </p:nvSpPr>
        <p:spPr>
          <a:xfrm>
            <a:off x="3794759" y="4663440"/>
            <a:ext cx="1935327" cy="621792"/>
          </a:xfrm>
          <a:prstGeom prst="rect">
            <a:avLst/>
          </a:prstGeom>
          <a:noFill/>
        </p:spPr>
        <p:txBody>
          <a:bodyPr wrap="square" lIns="0" rIns="0" tIns="0" bIns="0" anchor="ctr">
            <a:spAutoFit/>
          </a:bodyPr>
          <a:lstStyle/>
          <a:p>
            <a:pPr algn="l"/>
            <a:r>
              <a:rPr sz="1400" b="0" i="0">
                <a:solidFill>
                  <a:srgbClr val="4A5568"/>
                </a:solidFill>
                <a:latin typeface="Calibri"/>
              </a:rPr>
              <a:t>Check the chart for mistakes</a:t>
            </a:r>
          </a:p>
        </p:txBody>
      </p:sp>
      <p:sp>
        <p:nvSpPr>
          <p:cNvPr id="19" name="Rounded Rectangle 18"/>
          <p:cNvSpPr/>
          <p:nvPr/>
        </p:nvSpPr>
        <p:spPr>
          <a:xfrm>
            <a:off x="548640" y="539496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9496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template ./&lt;chart&gt;</a:t>
            </a:r>
          </a:p>
        </p:txBody>
      </p:sp>
      <p:sp>
        <p:nvSpPr>
          <p:cNvPr id="21" name="TextBox 20"/>
          <p:cNvSpPr txBox="1"/>
          <p:nvPr/>
        </p:nvSpPr>
        <p:spPr>
          <a:xfrm>
            <a:off x="3794759" y="5394960"/>
            <a:ext cx="1935327" cy="621792"/>
          </a:xfrm>
          <a:prstGeom prst="rect">
            <a:avLst/>
          </a:prstGeom>
          <a:noFill/>
        </p:spPr>
        <p:txBody>
          <a:bodyPr wrap="square" lIns="0" rIns="0" tIns="0" bIns="0" anchor="ctr">
            <a:spAutoFit/>
          </a:bodyPr>
          <a:lstStyle/>
          <a:p>
            <a:pPr algn="l"/>
            <a:r>
              <a:rPr sz="1400" b="0" i="0">
                <a:solidFill>
                  <a:srgbClr val="4A5568"/>
                </a:solidFill>
                <a:latin typeface="Calibri"/>
              </a:rPr>
              <a:t>Print final YAML, install nothing</a:t>
            </a:r>
          </a:p>
        </p:txBody>
      </p:sp>
      <p:sp>
        <p:nvSpPr>
          <p:cNvPr id="22" name="Rounded Rectangle 21"/>
          <p:cNvSpPr/>
          <p:nvPr/>
        </p:nvSpPr>
        <p:spPr>
          <a:xfrm>
            <a:off x="6278727" y="173736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73736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install &lt;rel&gt; ./&lt;chart&gt;</a:t>
            </a:r>
          </a:p>
        </p:txBody>
      </p:sp>
      <p:sp>
        <p:nvSpPr>
          <p:cNvPr id="24" name="TextBox 23"/>
          <p:cNvSpPr txBox="1"/>
          <p:nvPr/>
        </p:nvSpPr>
        <p:spPr>
          <a:xfrm>
            <a:off x="9524847" y="1737360"/>
            <a:ext cx="1935327" cy="621792"/>
          </a:xfrm>
          <a:prstGeom prst="rect">
            <a:avLst/>
          </a:prstGeom>
          <a:noFill/>
        </p:spPr>
        <p:txBody>
          <a:bodyPr wrap="square" lIns="0" rIns="0" tIns="0" bIns="0" anchor="ctr">
            <a:spAutoFit/>
          </a:bodyPr>
          <a:lstStyle/>
          <a:p>
            <a:pPr algn="l"/>
            <a:r>
              <a:rPr sz="1400" b="0" i="0">
                <a:solidFill>
                  <a:srgbClr val="4A5568"/>
                </a:solidFill>
                <a:latin typeface="Calibri"/>
              </a:rPr>
              <a:t>Install a release</a:t>
            </a:r>
          </a:p>
        </p:txBody>
      </p:sp>
      <p:sp>
        <p:nvSpPr>
          <p:cNvPr id="25" name="Rounded Rectangle 24"/>
          <p:cNvSpPr/>
          <p:nvPr/>
        </p:nvSpPr>
        <p:spPr>
          <a:xfrm>
            <a:off x="6278727" y="246888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246888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list -A</a:t>
            </a:r>
          </a:p>
        </p:txBody>
      </p:sp>
      <p:sp>
        <p:nvSpPr>
          <p:cNvPr id="27" name="TextBox 26"/>
          <p:cNvSpPr txBox="1"/>
          <p:nvPr/>
        </p:nvSpPr>
        <p:spPr>
          <a:xfrm>
            <a:off x="9524847" y="2468880"/>
            <a:ext cx="1935327" cy="621792"/>
          </a:xfrm>
          <a:prstGeom prst="rect">
            <a:avLst/>
          </a:prstGeom>
          <a:noFill/>
        </p:spPr>
        <p:txBody>
          <a:bodyPr wrap="square" lIns="0" rIns="0" tIns="0" bIns="0" anchor="ctr">
            <a:spAutoFit/>
          </a:bodyPr>
          <a:lstStyle/>
          <a:p>
            <a:pPr algn="l"/>
            <a:r>
              <a:rPr sz="1400" b="0" i="0">
                <a:solidFill>
                  <a:srgbClr val="4A5568"/>
                </a:solidFill>
                <a:latin typeface="Calibri"/>
              </a:rPr>
              <a:t>List releases in all namespaces</a:t>
            </a:r>
          </a:p>
        </p:txBody>
      </p:sp>
      <p:sp>
        <p:nvSpPr>
          <p:cNvPr id="28" name="Rounded Rectangle 27"/>
          <p:cNvSpPr/>
          <p:nvPr/>
        </p:nvSpPr>
        <p:spPr>
          <a:xfrm>
            <a:off x="6278727" y="320040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7327" y="320040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upgrade &lt;rel&gt; ./&lt;chart&gt;</a:t>
            </a:r>
          </a:p>
        </p:txBody>
      </p:sp>
      <p:sp>
        <p:nvSpPr>
          <p:cNvPr id="30" name="TextBox 29"/>
          <p:cNvSpPr txBox="1"/>
          <p:nvPr/>
        </p:nvSpPr>
        <p:spPr>
          <a:xfrm>
            <a:off x="9524847" y="3200400"/>
            <a:ext cx="1935327" cy="621792"/>
          </a:xfrm>
          <a:prstGeom prst="rect">
            <a:avLst/>
          </a:prstGeom>
          <a:noFill/>
        </p:spPr>
        <p:txBody>
          <a:bodyPr wrap="square" lIns="0" rIns="0" tIns="0" bIns="0" anchor="ctr">
            <a:spAutoFit/>
          </a:bodyPr>
          <a:lstStyle/>
          <a:p>
            <a:pPr algn="l"/>
            <a:r>
              <a:rPr sz="1400" b="0" i="0">
                <a:solidFill>
                  <a:srgbClr val="4A5568"/>
                </a:solidFill>
                <a:latin typeface="Calibri"/>
              </a:rPr>
              <a:t>Apply changes (new revision)</a:t>
            </a:r>
          </a:p>
        </p:txBody>
      </p:sp>
      <p:sp>
        <p:nvSpPr>
          <p:cNvPr id="31" name="Rounded Rectangle 30"/>
          <p:cNvSpPr/>
          <p:nvPr/>
        </p:nvSpPr>
        <p:spPr>
          <a:xfrm>
            <a:off x="6278727" y="393192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07327" y="393192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history &lt;rel&gt;</a:t>
            </a:r>
          </a:p>
        </p:txBody>
      </p:sp>
      <p:sp>
        <p:nvSpPr>
          <p:cNvPr id="33" name="TextBox 32"/>
          <p:cNvSpPr txBox="1"/>
          <p:nvPr/>
        </p:nvSpPr>
        <p:spPr>
          <a:xfrm>
            <a:off x="9524847" y="3931920"/>
            <a:ext cx="1935327" cy="621792"/>
          </a:xfrm>
          <a:prstGeom prst="rect">
            <a:avLst/>
          </a:prstGeom>
          <a:noFill/>
        </p:spPr>
        <p:txBody>
          <a:bodyPr wrap="square" lIns="0" rIns="0" tIns="0" bIns="0" anchor="ctr">
            <a:spAutoFit/>
          </a:bodyPr>
          <a:lstStyle/>
          <a:p>
            <a:pPr algn="l"/>
            <a:r>
              <a:rPr sz="1400" b="0" i="0">
                <a:solidFill>
                  <a:srgbClr val="4A5568"/>
                </a:solidFill>
                <a:latin typeface="Calibri"/>
              </a:rPr>
              <a:t>See every revision</a:t>
            </a:r>
          </a:p>
        </p:txBody>
      </p:sp>
      <p:sp>
        <p:nvSpPr>
          <p:cNvPr id="34" name="Rounded Rectangle 33"/>
          <p:cNvSpPr/>
          <p:nvPr/>
        </p:nvSpPr>
        <p:spPr>
          <a:xfrm>
            <a:off x="6278727" y="466344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07327" y="466344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rollback &lt;rel&gt; 1</a:t>
            </a:r>
          </a:p>
        </p:txBody>
      </p:sp>
      <p:sp>
        <p:nvSpPr>
          <p:cNvPr id="36" name="TextBox 35"/>
          <p:cNvSpPr txBox="1"/>
          <p:nvPr/>
        </p:nvSpPr>
        <p:spPr>
          <a:xfrm>
            <a:off x="9524847" y="4663440"/>
            <a:ext cx="1935327" cy="621792"/>
          </a:xfrm>
          <a:prstGeom prst="rect">
            <a:avLst/>
          </a:prstGeom>
          <a:noFill/>
        </p:spPr>
        <p:txBody>
          <a:bodyPr wrap="square" lIns="0" rIns="0" tIns="0" bIns="0" anchor="ctr">
            <a:spAutoFit/>
          </a:bodyPr>
          <a:lstStyle/>
          <a:p>
            <a:pPr algn="l"/>
            <a:r>
              <a:rPr sz="1400" b="0" i="0">
                <a:solidFill>
                  <a:srgbClr val="4A5568"/>
                </a:solidFill>
                <a:latin typeface="Calibri"/>
              </a:rPr>
              <a:t>Go back to revision 1</a:t>
            </a:r>
          </a:p>
        </p:txBody>
      </p:sp>
      <p:sp>
        <p:nvSpPr>
          <p:cNvPr id="37" name="Rounded Rectangle 36"/>
          <p:cNvSpPr/>
          <p:nvPr/>
        </p:nvSpPr>
        <p:spPr>
          <a:xfrm>
            <a:off x="6278727" y="5394960"/>
            <a:ext cx="5364327" cy="621792"/>
          </a:xfrm>
          <a:prstGeom prst="roundRect">
            <a:avLst>
              <a:gd name="adj" fmla="val 8000"/>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7327" y="5394960"/>
            <a:ext cx="2926080" cy="621792"/>
          </a:xfrm>
          <a:prstGeom prst="rect">
            <a:avLst/>
          </a:prstGeom>
          <a:noFill/>
        </p:spPr>
        <p:txBody>
          <a:bodyPr wrap="square" lIns="0" rIns="0" tIns="0" bIns="0" anchor="ctr">
            <a:spAutoFit/>
          </a:bodyPr>
          <a:lstStyle/>
          <a:p>
            <a:pPr algn="l"/>
            <a:r>
              <a:rPr sz="1400" b="0" i="0">
                <a:solidFill>
                  <a:srgbClr val="2E6FD8"/>
                </a:solidFill>
                <a:latin typeface="Consolas"/>
              </a:rPr>
              <a:t>helm uninstall &lt;rel&gt;</a:t>
            </a:r>
          </a:p>
        </p:txBody>
      </p:sp>
      <p:sp>
        <p:nvSpPr>
          <p:cNvPr id="39" name="TextBox 38"/>
          <p:cNvSpPr txBox="1"/>
          <p:nvPr/>
        </p:nvSpPr>
        <p:spPr>
          <a:xfrm>
            <a:off x="9524847" y="5394960"/>
            <a:ext cx="1935327" cy="621792"/>
          </a:xfrm>
          <a:prstGeom prst="rect">
            <a:avLst/>
          </a:prstGeom>
          <a:noFill/>
        </p:spPr>
        <p:txBody>
          <a:bodyPr wrap="square" lIns="0" rIns="0" tIns="0" bIns="0" anchor="ctr">
            <a:spAutoFit/>
          </a:bodyPr>
          <a:lstStyle/>
          <a:p>
            <a:pPr algn="l"/>
            <a:r>
              <a:rPr sz="1400" b="0" i="0">
                <a:solidFill>
                  <a:srgbClr val="4A5568"/>
                </a:solidFill>
                <a:latin typeface="Calibri"/>
              </a:rPr>
              <a:t>Delete the release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3233A"/>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F0A35E"/>
                </a:solidFill>
                <a:latin typeface="Calibri"/>
              </a:rPr>
              <a:t>HANDS-ON LAB</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FFFFFF"/>
                </a:solidFill>
                <a:latin typeface="Calibri"/>
              </a:rPr>
              <a:t>Turn our myjavaapp YAML into a Helm chart</a:t>
            </a:r>
          </a:p>
        </p:txBody>
      </p:sp>
      <p:sp>
        <p:nvSpPr>
          <p:cNvPr id="4" name="Oval 3"/>
          <p:cNvSpPr/>
          <p:nvPr/>
        </p:nvSpPr>
        <p:spPr>
          <a:xfrm>
            <a:off x="548640" y="1874519"/>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280160" y="1828800"/>
            <a:ext cx="10362895" cy="548640"/>
          </a:xfrm>
          <a:prstGeom prst="rect">
            <a:avLst/>
          </a:prstGeom>
          <a:noFill/>
        </p:spPr>
        <p:txBody>
          <a:bodyPr wrap="square" lIns="0" rIns="0" tIns="0" bIns="0" anchor="ctr">
            <a:spAutoFit/>
          </a:bodyPr>
          <a:lstStyle/>
          <a:p>
            <a:pPr algn="l"/>
            <a:r>
              <a:rPr sz="2000" b="0" i="0">
                <a:solidFill>
                  <a:srgbClr val="C3CFDD"/>
                </a:solidFill>
                <a:latin typeface="Calibri"/>
              </a:rPr>
              <a:t>Install Helm and run helm version</a:t>
            </a:r>
          </a:p>
        </p:txBody>
      </p:sp>
      <p:sp>
        <p:nvSpPr>
          <p:cNvPr id="6" name="Oval 5"/>
          <p:cNvSpPr/>
          <p:nvPr/>
        </p:nvSpPr>
        <p:spPr>
          <a:xfrm>
            <a:off x="548640" y="2532887"/>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7" name="TextBox 6"/>
          <p:cNvSpPr txBox="1"/>
          <p:nvPr/>
        </p:nvSpPr>
        <p:spPr>
          <a:xfrm>
            <a:off x="1280160" y="2487168"/>
            <a:ext cx="10362895" cy="548640"/>
          </a:xfrm>
          <a:prstGeom prst="rect">
            <a:avLst/>
          </a:prstGeom>
          <a:noFill/>
        </p:spPr>
        <p:txBody>
          <a:bodyPr wrap="square" lIns="0" rIns="0" tIns="0" bIns="0" anchor="ctr">
            <a:spAutoFit/>
          </a:bodyPr>
          <a:lstStyle/>
          <a:p>
            <a:pPr algn="l"/>
            <a:r>
              <a:rPr sz="2000" b="0" i="0">
                <a:solidFill>
                  <a:srgbClr val="C3CFDD"/>
                </a:solidFill>
                <a:latin typeface="Calibri"/>
              </a:rPr>
              <a:t>Open helm/myjavaapp (made from mydeploy.yml + mySVCdeploy.yml)</a:t>
            </a:r>
          </a:p>
        </p:txBody>
      </p:sp>
      <p:sp>
        <p:nvSpPr>
          <p:cNvPr id="8" name="Oval 7"/>
          <p:cNvSpPr/>
          <p:nvPr/>
        </p:nvSpPr>
        <p:spPr>
          <a:xfrm>
            <a:off x="548640" y="3191256"/>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9" name="TextBox 8"/>
          <p:cNvSpPr txBox="1"/>
          <p:nvPr/>
        </p:nvSpPr>
        <p:spPr>
          <a:xfrm>
            <a:off x="1280160" y="3145536"/>
            <a:ext cx="10362895" cy="548640"/>
          </a:xfrm>
          <a:prstGeom prst="rect">
            <a:avLst/>
          </a:prstGeom>
          <a:noFill/>
        </p:spPr>
        <p:txBody>
          <a:bodyPr wrap="square" lIns="0" rIns="0" tIns="0" bIns="0" anchor="ctr">
            <a:spAutoFit/>
          </a:bodyPr>
          <a:lstStyle/>
          <a:p>
            <a:pPr algn="l"/>
            <a:r>
              <a:rPr sz="2000" b="0" i="0">
                <a:solidFill>
                  <a:srgbClr val="C3CFDD"/>
                </a:solidFill>
                <a:latin typeface="Calibri"/>
              </a:rPr>
              <a:t>Check it: helm lint and helm template</a:t>
            </a:r>
          </a:p>
        </p:txBody>
      </p:sp>
      <p:sp>
        <p:nvSpPr>
          <p:cNvPr id="10" name="Oval 9"/>
          <p:cNvSpPr/>
          <p:nvPr/>
        </p:nvSpPr>
        <p:spPr>
          <a:xfrm>
            <a:off x="548640" y="3849624"/>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1" name="TextBox 10"/>
          <p:cNvSpPr txBox="1"/>
          <p:nvPr/>
        </p:nvSpPr>
        <p:spPr>
          <a:xfrm>
            <a:off x="1280160" y="3803904"/>
            <a:ext cx="10362895" cy="548640"/>
          </a:xfrm>
          <a:prstGeom prst="rect">
            <a:avLst/>
          </a:prstGeom>
          <a:noFill/>
        </p:spPr>
        <p:txBody>
          <a:bodyPr wrap="square" lIns="0" rIns="0" tIns="0" bIns="0" anchor="ctr">
            <a:spAutoFit/>
          </a:bodyPr>
          <a:lstStyle/>
          <a:p>
            <a:pPr algn="l"/>
            <a:r>
              <a:rPr sz="2000" b="0" i="0">
                <a:solidFill>
                  <a:srgbClr val="C3CFDD"/>
                </a:solidFill>
                <a:latin typeface="Calibri"/>
              </a:rPr>
              <a:t>Install booking-dev and open http://&lt;node-ip&gt;:30002</a:t>
            </a:r>
          </a:p>
        </p:txBody>
      </p:sp>
      <p:sp>
        <p:nvSpPr>
          <p:cNvPr id="12" name="Oval 11"/>
          <p:cNvSpPr/>
          <p:nvPr/>
        </p:nvSpPr>
        <p:spPr>
          <a:xfrm>
            <a:off x="548640" y="4507992"/>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3" name="TextBox 12"/>
          <p:cNvSpPr txBox="1"/>
          <p:nvPr/>
        </p:nvSpPr>
        <p:spPr>
          <a:xfrm>
            <a:off x="1280160" y="4462272"/>
            <a:ext cx="10362895" cy="548640"/>
          </a:xfrm>
          <a:prstGeom prst="rect">
            <a:avLst/>
          </a:prstGeom>
          <a:noFill/>
        </p:spPr>
        <p:txBody>
          <a:bodyPr wrap="square" lIns="0" rIns="0" tIns="0" bIns="0" anchor="ctr">
            <a:spAutoFit/>
          </a:bodyPr>
          <a:lstStyle/>
          <a:p>
            <a:pPr algn="l"/>
            <a:r>
              <a:rPr sz="2000" b="0" i="0">
                <a:solidFill>
                  <a:srgbClr val="C3CFDD"/>
                </a:solidFill>
                <a:latin typeface="Calibri"/>
              </a:rPr>
              <a:t>Upgrade to 3 pods, read the history, roll back</a:t>
            </a:r>
          </a:p>
        </p:txBody>
      </p:sp>
      <p:sp>
        <p:nvSpPr>
          <p:cNvPr id="14" name="Oval 13"/>
          <p:cNvSpPr/>
          <p:nvPr/>
        </p:nvSpPr>
        <p:spPr>
          <a:xfrm>
            <a:off x="548640" y="5166359"/>
            <a:ext cx="457200" cy="4572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15" name="TextBox 14"/>
          <p:cNvSpPr txBox="1"/>
          <p:nvPr/>
        </p:nvSpPr>
        <p:spPr>
          <a:xfrm>
            <a:off x="1280160" y="5120640"/>
            <a:ext cx="10362895" cy="548640"/>
          </a:xfrm>
          <a:prstGeom prst="rect">
            <a:avLst/>
          </a:prstGeom>
          <a:noFill/>
        </p:spPr>
        <p:txBody>
          <a:bodyPr wrap="square" lIns="0" rIns="0" tIns="0" bIns="0" anchor="ctr">
            <a:spAutoFit/>
          </a:bodyPr>
          <a:lstStyle/>
          <a:p>
            <a:pPr algn="l"/>
            <a:r>
              <a:rPr sz="2000" b="0" i="0">
                <a:solidFill>
                  <a:srgbClr val="C3CFDD"/>
                </a:solidFill>
                <a:latin typeface="Calibri"/>
              </a:rPr>
              <a:t>Uninstall and confirm everything is gone</a:t>
            </a:r>
          </a:p>
        </p:txBody>
      </p:sp>
      <p:sp>
        <p:nvSpPr>
          <p:cNvPr id="16" name="TextBox 15"/>
          <p:cNvSpPr txBox="1"/>
          <p:nvPr/>
        </p:nvSpPr>
        <p:spPr>
          <a:xfrm>
            <a:off x="548640" y="6035040"/>
            <a:ext cx="11094415" cy="320040"/>
          </a:xfrm>
          <a:prstGeom prst="rect">
            <a:avLst/>
          </a:prstGeom>
          <a:noFill/>
        </p:spPr>
        <p:txBody>
          <a:bodyPr wrap="square" lIns="0" rIns="0" tIns="0" bIns="0" anchor="t">
            <a:spAutoFit/>
          </a:bodyPr>
          <a:lstStyle/>
          <a:p>
            <a:pPr algn="l"/>
            <a:r>
              <a:rPr sz="1300" b="0" i="0">
                <a:solidFill>
                  <a:srgbClr val="8FA3BA"/>
                </a:solidFill>
                <a:latin typeface="Consolas"/>
              </a:rPr>
              <a:t>Step-by-step guide: helm/HELM_LAB.md in the class repo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Eyebrow"/>
          <p:cNvSpPr txBox="1"/>
          <p:nvPr/>
        </p:nvSpPr>
        <p:spPr>
          <a:xfrm>
            <a:off x="548640" y="411480"/>
            <a:ext cx="11094415" cy="320040"/>
          </a:xfrm>
          <a:prstGeom prst="rect">
            <a:avLst/>
          </a:prstGeom>
          <a:noFill/>
        </p:spPr>
        <p:txBody>
          <a:bodyPr wrap="square" lIns="0" rIns="0" tIns="0" bIns="0" anchor="t">
            <a:spAutoFit/>
          </a:bodyPr>
          <a:lstStyle/>
          <a:p>
            <a:pPr algn="l"/>
            <a:r>
              <a:rPr sz="1300" b="1" i="0">
                <a:solidFill>
                  <a:srgbClr val="2E6FD8"/>
                </a:solidFill>
                <a:latin typeface="Calibri"/>
              </a:rPr>
              <a:t>RECAP</a:t>
            </a:r>
          </a:p>
        </p:txBody>
      </p:sp>
      <p:sp>
        <p:nvSpPr>
          <p:cNvPr id="3" name="Title"/>
          <p:cNvSpPr txBox="1"/>
          <p:nvPr/>
        </p:nvSpPr>
        <p:spPr>
          <a:xfrm>
            <a:off x="548640" y="731520"/>
            <a:ext cx="11094415" cy="822960"/>
          </a:xfrm>
          <a:prstGeom prst="rect">
            <a:avLst/>
          </a:prstGeom>
          <a:noFill/>
        </p:spPr>
        <p:txBody>
          <a:bodyPr wrap="square" lIns="0" rIns="0" tIns="0" bIns="0" anchor="t">
            <a:spAutoFit/>
          </a:bodyPr>
          <a:lstStyle/>
          <a:p>
            <a:pPr algn="l"/>
            <a:r>
              <a:rPr sz="3400" b="1" i="0">
                <a:solidFill>
                  <a:srgbClr val="1B2433"/>
                </a:solidFill>
                <a:latin typeface="Calibri"/>
              </a:rPr>
              <a:t>What to remember</a:t>
            </a:r>
          </a:p>
        </p:txBody>
      </p:sp>
      <p:sp>
        <p:nvSpPr>
          <p:cNvPr id="4" name="Rounded Rectangle 3"/>
          <p:cNvSpPr/>
          <p:nvPr/>
        </p:nvSpPr>
        <p:spPr>
          <a:xfrm>
            <a:off x="548640" y="1828800"/>
            <a:ext cx="3454298" cy="301752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48840"/>
            <a:ext cx="685800" cy="6858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W</a:t>
            </a:r>
          </a:p>
        </p:txBody>
      </p:sp>
      <p:sp>
        <p:nvSpPr>
          <p:cNvPr id="6" name="TextBox 5"/>
          <p:cNvSpPr txBox="1"/>
          <p:nvPr/>
        </p:nvSpPr>
        <p:spPr>
          <a:xfrm>
            <a:off x="914400" y="3017520"/>
            <a:ext cx="2722778" cy="502920"/>
          </a:xfrm>
          <a:prstGeom prst="rect">
            <a:avLst/>
          </a:prstGeom>
          <a:noFill/>
        </p:spPr>
        <p:txBody>
          <a:bodyPr wrap="square" lIns="0" rIns="0" tIns="0" bIns="0" anchor="t">
            <a:spAutoFit/>
          </a:bodyPr>
          <a:lstStyle/>
          <a:p>
            <a:pPr algn="l"/>
            <a:r>
              <a:rPr sz="2600" b="1" i="0">
                <a:solidFill>
                  <a:srgbClr val="1B2433"/>
                </a:solidFill>
                <a:latin typeface="Calibri"/>
              </a:rPr>
              <a:t>What</a:t>
            </a:r>
          </a:p>
        </p:txBody>
      </p:sp>
      <p:sp>
        <p:nvSpPr>
          <p:cNvPr id="7" name="TextBox 6"/>
          <p:cNvSpPr txBox="1"/>
          <p:nvPr/>
        </p:nvSpPr>
        <p:spPr>
          <a:xfrm>
            <a:off x="914400" y="3611880"/>
            <a:ext cx="2722778" cy="1188720"/>
          </a:xfrm>
          <a:prstGeom prst="rect">
            <a:avLst/>
          </a:prstGeom>
          <a:noFill/>
        </p:spPr>
        <p:txBody>
          <a:bodyPr wrap="square" lIns="0" rIns="0" tIns="0" bIns="0" anchor="t">
            <a:spAutoFit/>
          </a:bodyPr>
          <a:lstStyle/>
          <a:p>
            <a:pPr algn="l"/>
            <a:r>
              <a:rPr sz="1700" b="0" i="0">
                <a:solidFill>
                  <a:srgbClr val="4A5568"/>
                </a:solidFill>
                <a:latin typeface="Calibri"/>
              </a:rPr>
              <a:t>Helm is the package manager for Kubernetes. A chart = templates + values.</a:t>
            </a:r>
          </a:p>
        </p:txBody>
      </p:sp>
      <p:sp>
        <p:nvSpPr>
          <p:cNvPr id="8" name="Rounded Rectangle 7"/>
          <p:cNvSpPr/>
          <p:nvPr/>
        </p:nvSpPr>
        <p:spPr>
          <a:xfrm>
            <a:off x="4368698" y="1828800"/>
            <a:ext cx="3454298" cy="301752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34458" y="2148840"/>
            <a:ext cx="685800" cy="685800"/>
          </a:xfrm>
          <a:prstGeom prst="ellipse">
            <a:avLst/>
          </a:prstGeom>
          <a:solidFill>
            <a:srgbClr val="2E6F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W</a:t>
            </a:r>
          </a:p>
        </p:txBody>
      </p:sp>
      <p:sp>
        <p:nvSpPr>
          <p:cNvPr id="10" name="TextBox 9"/>
          <p:cNvSpPr txBox="1"/>
          <p:nvPr/>
        </p:nvSpPr>
        <p:spPr>
          <a:xfrm>
            <a:off x="4734458" y="3017520"/>
            <a:ext cx="2722778" cy="502920"/>
          </a:xfrm>
          <a:prstGeom prst="rect">
            <a:avLst/>
          </a:prstGeom>
          <a:noFill/>
        </p:spPr>
        <p:txBody>
          <a:bodyPr wrap="square" lIns="0" rIns="0" tIns="0" bIns="0" anchor="t">
            <a:spAutoFit/>
          </a:bodyPr>
          <a:lstStyle/>
          <a:p>
            <a:pPr algn="l"/>
            <a:r>
              <a:rPr sz="2600" b="1" i="0">
                <a:solidFill>
                  <a:srgbClr val="1B2433"/>
                </a:solidFill>
                <a:latin typeface="Calibri"/>
              </a:rPr>
              <a:t>Why</a:t>
            </a:r>
          </a:p>
        </p:txBody>
      </p:sp>
      <p:sp>
        <p:nvSpPr>
          <p:cNvPr id="11" name="TextBox 10"/>
          <p:cNvSpPr txBox="1"/>
          <p:nvPr/>
        </p:nvSpPr>
        <p:spPr>
          <a:xfrm>
            <a:off x="4734458" y="3611880"/>
            <a:ext cx="2722778" cy="1188720"/>
          </a:xfrm>
          <a:prstGeom prst="rect">
            <a:avLst/>
          </a:prstGeom>
          <a:noFill/>
        </p:spPr>
        <p:txBody>
          <a:bodyPr wrap="square" lIns="0" rIns="0" tIns="0" bIns="0" anchor="t">
            <a:spAutoFit/>
          </a:bodyPr>
          <a:lstStyle/>
          <a:p>
            <a:pPr algn="l"/>
            <a:r>
              <a:rPr sz="1700" b="0" i="0">
                <a:solidFill>
                  <a:srgbClr val="4A5568"/>
                </a:solidFill>
                <a:latin typeface="Calibri"/>
              </a:rPr>
              <a:t>Reuse one chart for every environment, deploy in one command, roll back safely.</a:t>
            </a:r>
          </a:p>
        </p:txBody>
      </p:sp>
      <p:sp>
        <p:nvSpPr>
          <p:cNvPr id="12" name="Rounded Rectangle 11"/>
          <p:cNvSpPr/>
          <p:nvPr/>
        </p:nvSpPr>
        <p:spPr>
          <a:xfrm>
            <a:off x="8188756" y="1828800"/>
            <a:ext cx="3454298" cy="3017520"/>
          </a:xfrm>
          <a:prstGeom prst="roundRect">
            <a:avLst>
              <a:gd name="adj" fmla="val 8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54516" y="2148840"/>
            <a:ext cx="685800" cy="685800"/>
          </a:xfrm>
          <a:prstGeom prst="ellipse">
            <a:avLst/>
          </a:prstGeom>
          <a:solidFill>
            <a:srgbClr val="D97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H</a:t>
            </a:r>
          </a:p>
        </p:txBody>
      </p:sp>
      <p:sp>
        <p:nvSpPr>
          <p:cNvPr id="14" name="TextBox 13"/>
          <p:cNvSpPr txBox="1"/>
          <p:nvPr/>
        </p:nvSpPr>
        <p:spPr>
          <a:xfrm>
            <a:off x="8554516" y="3017520"/>
            <a:ext cx="2722778" cy="502920"/>
          </a:xfrm>
          <a:prstGeom prst="rect">
            <a:avLst/>
          </a:prstGeom>
          <a:noFill/>
        </p:spPr>
        <p:txBody>
          <a:bodyPr wrap="square" lIns="0" rIns="0" tIns="0" bIns="0" anchor="t">
            <a:spAutoFit/>
          </a:bodyPr>
          <a:lstStyle/>
          <a:p>
            <a:pPr algn="l"/>
            <a:r>
              <a:rPr sz="2600" b="1" i="0">
                <a:solidFill>
                  <a:srgbClr val="1B2433"/>
                </a:solidFill>
                <a:latin typeface="Calibri"/>
              </a:rPr>
              <a:t>How</a:t>
            </a:r>
          </a:p>
        </p:txBody>
      </p:sp>
      <p:sp>
        <p:nvSpPr>
          <p:cNvPr id="15" name="TextBox 14"/>
          <p:cNvSpPr txBox="1"/>
          <p:nvPr/>
        </p:nvSpPr>
        <p:spPr>
          <a:xfrm>
            <a:off x="8554516" y="3611880"/>
            <a:ext cx="2722778" cy="1188720"/>
          </a:xfrm>
          <a:prstGeom prst="rect">
            <a:avLst/>
          </a:prstGeom>
          <a:noFill/>
        </p:spPr>
        <p:txBody>
          <a:bodyPr wrap="square" lIns="0" rIns="0" tIns="0" bIns="0" anchor="t">
            <a:spAutoFit/>
          </a:bodyPr>
          <a:lstStyle/>
          <a:p>
            <a:pPr algn="l"/>
            <a:r>
              <a:rPr sz="1700" b="0" i="0">
                <a:solidFill>
                  <a:srgbClr val="4A5568"/>
                </a:solidFill>
                <a:latin typeface="Calibri"/>
              </a:rPr>
              <a:t>repo add → install for ready apps;  create → lint → template → install for your own.</a:t>
            </a:r>
          </a:p>
        </p:txBody>
      </p:sp>
      <p:sp>
        <p:nvSpPr>
          <p:cNvPr id="16" name="TextBox 15"/>
          <p:cNvSpPr txBox="1"/>
          <p:nvPr/>
        </p:nvSpPr>
        <p:spPr>
          <a:xfrm>
            <a:off x="548640" y="5394960"/>
            <a:ext cx="11094415" cy="731520"/>
          </a:xfrm>
          <a:prstGeom prst="rect">
            <a:avLst/>
          </a:prstGeom>
          <a:noFill/>
        </p:spPr>
        <p:txBody>
          <a:bodyPr wrap="square" lIns="0" rIns="0" tIns="0" bIns="0" anchor="t">
            <a:spAutoFit/>
          </a:bodyPr>
          <a:lstStyle/>
          <a:p>
            <a:pPr algn="l"/>
            <a:r>
              <a:rPr sz="3200" b="1" i="0">
                <a:solidFill>
                  <a:srgbClr val="1B2433"/>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